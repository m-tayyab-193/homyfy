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9144000"/>
  <p:notesSz cx="6858000" cy="9144000"/>
  <p:embeddedFontLst>
    <p:embeddedFont>
      <p:font typeface="Tahom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Lu5qsb8/F+7wvHxS0XOH8poB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B106F2-6AB4-4373-884C-E898AA932C3B}">
  <a:tblStyle styleId="{ADB106F2-6AB4-4373-884C-E898AA932C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Tahoma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Tahom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22ed91dfd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22ed91df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822ed91dfd_0_8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22ed91df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822ed91d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822ed91dfd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22ed91dfd_0_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5" name="Google Shape;275;g3822ed91dfd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g3822ed91d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22ed91dfd_0_2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3" name="Google Shape;283;g3822ed91dfd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822ed91df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22ed91dfd_0_3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1" name="Google Shape;291;g3822ed91dfd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822ed91df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299" name="Google Shape;2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14" name="Google Shape;31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29" name="Google Shape;32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36" name="Google Shape;3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43" name="Google Shape;34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4" name="Google Shape;3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61" name="Google Shape;36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‹#›</a:t>
            </a:fld>
            <a:endParaRPr/>
          </a:p>
        </p:txBody>
      </p:sp>
      <p:sp>
        <p:nvSpPr>
          <p:cNvPr id="373" name="Google Shape;37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22ed91dfd_0_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822ed91df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822ed91dfd_0_117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/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685800" y="16002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30" name="Google Shape;30;p32"/>
          <p:cNvSpPr txBox="1"/>
          <p:nvPr>
            <p:ph idx="2" type="body"/>
          </p:nvPr>
        </p:nvSpPr>
        <p:spPr>
          <a:xfrm>
            <a:off x="4648200" y="1600200"/>
            <a:ext cx="3810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»"/>
              <a:defRPr sz="1800"/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 rot="5400000">
            <a:off x="2324100" y="-38100"/>
            <a:ext cx="4495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0" name="Google Shape;50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sz="2000"/>
            </a:lvl9pPr>
          </a:lstStyle>
          <a:p/>
        </p:txBody>
      </p:sp>
      <p:sp>
        <p:nvSpPr>
          <p:cNvPr id="56" name="Google Shape;56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None/>
              <a:defRPr sz="900"/>
            </a:lvl9pPr>
          </a:lstStyle>
          <a:p/>
        </p:txBody>
      </p:sp>
      <p:sp>
        <p:nvSpPr>
          <p:cNvPr id="57" name="Google Shape;57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8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2" name="Google Shape;72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3" name="Google Shape;73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b="1" sz="1600"/>
            </a:lvl9pPr>
          </a:lstStyle>
          <a:p/>
        </p:txBody>
      </p:sp>
      <p:sp>
        <p:nvSpPr>
          <p:cNvPr id="74" name="Google Shape;74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Char char="»"/>
              <a:defRPr sz="1600"/>
            </a:lvl9pPr>
          </a:lstStyle>
          <a:p/>
        </p:txBody>
      </p:sp>
      <p:sp>
        <p:nvSpPr>
          <p:cNvPr id="75" name="Google Shape;75;p3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sz="1400"/>
            </a:lvl9pPr>
          </a:lstStyle>
          <a:p/>
        </p:txBody>
      </p:sp>
      <p:sp>
        <p:nvSpPr>
          <p:cNvPr id="81" name="Google Shape;81;p4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  <a:defRPr b="0" i="0" sz="2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•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»"/>
              <a:defRPr b="0" i="0" sz="20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"/>
              <a:buNone/>
              <a:defRPr b="0" i="0" sz="1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Evaluation / Usability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5105400" y="2514600"/>
            <a:ext cx="2057400" cy="1143000"/>
            <a:chOff x="912" y="1152"/>
            <a:chExt cx="1296" cy="720"/>
          </a:xfrm>
        </p:grpSpPr>
        <p:sp>
          <p:nvSpPr>
            <p:cNvPr id="96" name="Google Shape;96;p2"/>
            <p:cNvSpPr/>
            <p:nvPr/>
          </p:nvSpPr>
          <p:spPr>
            <a:xfrm>
              <a:off x="912" y="1152"/>
              <a:ext cx="1248" cy="720"/>
            </a:xfrm>
            <a:prstGeom prst="flowChartAlternateProcess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960" y="1392"/>
              <a:ext cx="124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Implement</a:t>
              </a:r>
              <a:endParaRPr/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2133600" y="4038600"/>
            <a:ext cx="1981200" cy="1143000"/>
            <a:chOff x="2400" y="1920"/>
            <a:chExt cx="1248" cy="720"/>
          </a:xfrm>
        </p:grpSpPr>
        <p:sp>
          <p:nvSpPr>
            <p:cNvPr id="99" name="Google Shape;99;p2"/>
            <p:cNvSpPr/>
            <p:nvPr/>
          </p:nvSpPr>
          <p:spPr>
            <a:xfrm>
              <a:off x="2400" y="1920"/>
              <a:ext cx="1248" cy="720"/>
            </a:xfrm>
            <a:prstGeom prst="flowChartAlternateProcess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544" y="2160"/>
              <a:ext cx="10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Design</a:t>
              </a:r>
              <a:endParaRPr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762000" y="4876800"/>
            <a:ext cx="1981200" cy="1143000"/>
            <a:chOff x="960" y="2736"/>
            <a:chExt cx="1248" cy="720"/>
          </a:xfrm>
        </p:grpSpPr>
        <p:sp>
          <p:nvSpPr>
            <p:cNvPr id="102" name="Google Shape;102;p2"/>
            <p:cNvSpPr/>
            <p:nvPr/>
          </p:nvSpPr>
          <p:spPr>
            <a:xfrm>
              <a:off x="960" y="2736"/>
              <a:ext cx="1248" cy="720"/>
            </a:xfrm>
            <a:prstGeom prst="flowChartAlternateProcess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1104" y="2976"/>
              <a:ext cx="10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Analysis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6553200" y="1676400"/>
            <a:ext cx="1981200" cy="1143000"/>
            <a:chOff x="3792" y="2784"/>
            <a:chExt cx="1248" cy="720"/>
          </a:xfrm>
        </p:grpSpPr>
        <p:sp>
          <p:nvSpPr>
            <p:cNvPr id="105" name="Google Shape;105;p2"/>
            <p:cNvSpPr/>
            <p:nvPr/>
          </p:nvSpPr>
          <p:spPr>
            <a:xfrm>
              <a:off x="3792" y="2784"/>
              <a:ext cx="1248" cy="720"/>
            </a:xfrm>
            <a:prstGeom prst="flowChartAlternateProcess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3936" y="3024"/>
              <a:ext cx="10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Evaluate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657600" y="3276600"/>
            <a:ext cx="1981200" cy="1143000"/>
            <a:chOff x="3792" y="1152"/>
            <a:chExt cx="1248" cy="720"/>
          </a:xfrm>
        </p:grpSpPr>
        <p:sp>
          <p:nvSpPr>
            <p:cNvPr id="108" name="Google Shape;108;p2"/>
            <p:cNvSpPr/>
            <p:nvPr/>
          </p:nvSpPr>
          <p:spPr>
            <a:xfrm>
              <a:off x="3792" y="1152"/>
              <a:ext cx="1248" cy="720"/>
            </a:xfrm>
            <a:prstGeom prst="flowChartAlternateProcess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3936" y="1392"/>
              <a:ext cx="10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ahoma"/>
                <a:buNone/>
              </a:pPr>
              <a:r>
                <a:rPr b="1" i="0" lang="en-US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Develop</a:t>
              </a:r>
              <a:endParaRPr/>
            </a:p>
          </p:txBody>
        </p:sp>
      </p:grpSp>
      <p:sp>
        <p:nvSpPr>
          <p:cNvPr descr="Large confetti" id="110" name="Google Shape;110;p2"/>
          <p:cNvSpPr txBox="1"/>
          <p:nvPr>
            <p:ph type="title"/>
          </p:nvPr>
        </p:nvSpPr>
        <p:spPr>
          <a:xfrm>
            <a:off x="1093787" y="284162"/>
            <a:ext cx="805021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ADDIE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 rot="5400000">
            <a:off x="6019800" y="533400"/>
            <a:ext cx="1524000" cy="76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" name="Google Shape;112;p2"/>
          <p:cNvSpPr/>
          <p:nvPr/>
        </p:nvSpPr>
        <p:spPr>
          <a:xfrm rot="5400000">
            <a:off x="4114800" y="1447800"/>
            <a:ext cx="1524000" cy="762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13" name="Google Shape;113;p2"/>
          <p:cNvCxnSpPr/>
          <p:nvPr/>
        </p:nvCxnSpPr>
        <p:spPr>
          <a:xfrm flipH="1" rot="10800000">
            <a:off x="5257800" y="914400"/>
            <a:ext cx="1143000" cy="914400"/>
          </a:xfrm>
          <a:prstGeom prst="straightConnector1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Usability</a:t>
            </a:r>
            <a:endParaRPr/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304800" y="11430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What is it?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Why do we need it?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 do we do it?</a:t>
            </a:r>
            <a:endParaRPr/>
          </a:p>
        </p:txBody>
      </p:sp>
      <p:pic>
        <p:nvPicPr>
          <p:cNvPr descr="WorldUsability"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762000"/>
            <a:ext cx="2562225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4"/>
          <p:cNvCxnSpPr/>
          <p:nvPr/>
        </p:nvCxnSpPr>
        <p:spPr>
          <a:xfrm flipH="1" rot="10800000">
            <a:off x="1143000" y="1066800"/>
            <a:ext cx="32766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7" name="Google Shape;127;p4"/>
          <p:cNvCxnSpPr/>
          <p:nvPr/>
        </p:nvCxnSpPr>
        <p:spPr>
          <a:xfrm flipH="1" rot="10800000">
            <a:off x="1447800" y="1066800"/>
            <a:ext cx="29718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8" name="Google Shape;128;p4"/>
          <p:cNvCxnSpPr/>
          <p:nvPr/>
        </p:nvCxnSpPr>
        <p:spPr>
          <a:xfrm flipH="1" rot="10800000">
            <a:off x="1905000" y="1066800"/>
            <a:ext cx="2514600" cy="114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" name="Google Shape;129;p4"/>
          <p:cNvCxnSpPr/>
          <p:nvPr/>
        </p:nvCxnSpPr>
        <p:spPr>
          <a:xfrm flipH="1" rot="10800000">
            <a:off x="2362200" y="1066800"/>
            <a:ext cx="20574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0" name="Google Shape;130;p4"/>
          <p:cNvCxnSpPr/>
          <p:nvPr/>
        </p:nvCxnSpPr>
        <p:spPr>
          <a:xfrm rot="10800000">
            <a:off x="4419600" y="1066800"/>
            <a:ext cx="152400" cy="144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1" name="Google Shape;131;p4"/>
          <p:cNvCxnSpPr/>
          <p:nvPr/>
        </p:nvCxnSpPr>
        <p:spPr>
          <a:xfrm rot="10800000">
            <a:off x="4419600" y="1066800"/>
            <a:ext cx="2501900" cy="18002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32" name="Google Shape;132;p4"/>
          <p:cNvCxnSpPr/>
          <p:nvPr/>
        </p:nvCxnSpPr>
        <p:spPr>
          <a:xfrm rot="10800000">
            <a:off x="4419600" y="1066800"/>
            <a:ext cx="35814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3" name="Google Shape;133;p4"/>
          <p:cNvSpPr/>
          <p:nvPr/>
        </p:nvSpPr>
        <p:spPr>
          <a:xfrm>
            <a:off x="2743200" y="2667000"/>
            <a:ext cx="3505200" cy="1219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81000" y="12954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85800" y="18288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143000" y="22098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676400" y="26670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077200" y="19812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6858000" y="28956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3303587" y="3048000"/>
            <a:ext cx="27876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(Formative &amp; Summative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Evaluation)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979612" y="457200"/>
            <a:ext cx="53355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User-Centered Design Methods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543800" y="2438400"/>
            <a:ext cx="685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3" name="Google Shape;143;p4"/>
          <p:cNvCxnSpPr/>
          <p:nvPr/>
        </p:nvCxnSpPr>
        <p:spPr>
          <a:xfrm rot="10800000">
            <a:off x="4419600" y="1066800"/>
            <a:ext cx="3048000" cy="137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44" name="Google Shape;144;p4"/>
          <p:cNvSpPr txBox="1"/>
          <p:nvPr/>
        </p:nvSpPr>
        <p:spPr>
          <a:xfrm>
            <a:off x="3429000" y="26670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Usability Testing</a:t>
            </a:r>
            <a:endParaRPr/>
          </a:p>
        </p:txBody>
      </p:sp>
      <p:grpSp>
        <p:nvGrpSpPr>
          <p:cNvPr id="145" name="Google Shape;145;p4"/>
          <p:cNvGrpSpPr/>
          <p:nvPr/>
        </p:nvGrpSpPr>
        <p:grpSpPr>
          <a:xfrm>
            <a:off x="304800" y="3733800"/>
            <a:ext cx="8610600" cy="2911475"/>
            <a:chOff x="192" y="2352"/>
            <a:chExt cx="5424" cy="1834"/>
          </a:xfrm>
        </p:grpSpPr>
        <p:sp>
          <p:nvSpPr>
            <p:cNvPr id="146" name="Google Shape;146;p4"/>
            <p:cNvSpPr txBox="1"/>
            <p:nvPr/>
          </p:nvSpPr>
          <p:spPr>
            <a:xfrm>
              <a:off x="192" y="2880"/>
              <a:ext cx="1309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What does it mean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for something to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be </a:t>
              </a:r>
              <a:r>
                <a:rPr b="0" i="1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usable</a:t>
              </a: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?</a:t>
              </a:r>
              <a:endParaRPr/>
            </a:p>
          </p:txBody>
        </p:sp>
        <p:sp>
          <p:nvSpPr>
            <p:cNvPr id="147" name="Google Shape;147;p4"/>
            <p:cNvSpPr txBox="1"/>
            <p:nvPr/>
          </p:nvSpPr>
          <p:spPr>
            <a:xfrm>
              <a:off x="4579" y="2918"/>
              <a:ext cx="1037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Reporting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the results of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a usability test</a:t>
              </a:r>
              <a:endParaRPr/>
            </a:p>
          </p:txBody>
        </p:sp>
        <p:sp>
          <p:nvSpPr>
            <p:cNvPr id="148" name="Google Shape;148;p4"/>
            <p:cNvSpPr txBox="1"/>
            <p:nvPr/>
          </p:nvSpPr>
          <p:spPr>
            <a:xfrm>
              <a:off x="1344" y="3408"/>
              <a:ext cx="109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Conducting an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evaluation</a:t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2448" y="3744"/>
              <a:ext cx="1158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Understanding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users’ behaviors</a:t>
              </a:r>
              <a:endParaRPr/>
            </a:p>
          </p:txBody>
        </p:sp>
        <p:cxnSp>
          <p:nvCxnSpPr>
            <p:cNvPr id="150" name="Google Shape;150;p4"/>
            <p:cNvCxnSpPr/>
            <p:nvPr/>
          </p:nvCxnSpPr>
          <p:spPr>
            <a:xfrm flipH="1" rot="10800000">
              <a:off x="1008" y="2352"/>
              <a:ext cx="864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1" name="Google Shape;151;p4"/>
            <p:cNvCxnSpPr/>
            <p:nvPr/>
          </p:nvCxnSpPr>
          <p:spPr>
            <a:xfrm flipH="1" rot="10800000">
              <a:off x="2016" y="2496"/>
              <a:ext cx="384" cy="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2" name="Google Shape;152;p4"/>
            <p:cNvCxnSpPr/>
            <p:nvPr/>
          </p:nvCxnSpPr>
          <p:spPr>
            <a:xfrm flipH="1">
              <a:off x="2928" y="2544"/>
              <a:ext cx="48" cy="11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3" name="Google Shape;153;p4"/>
            <p:cNvCxnSpPr/>
            <p:nvPr/>
          </p:nvCxnSpPr>
          <p:spPr>
            <a:xfrm>
              <a:off x="3792" y="2400"/>
              <a:ext cx="912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54" name="Google Shape;154;p4"/>
            <p:cNvCxnSpPr/>
            <p:nvPr/>
          </p:nvCxnSpPr>
          <p:spPr>
            <a:xfrm>
              <a:off x="3456" y="2448"/>
              <a:ext cx="672" cy="12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55" name="Google Shape;155;p4"/>
            <p:cNvSpPr txBox="1"/>
            <p:nvPr/>
          </p:nvSpPr>
          <p:spPr>
            <a:xfrm>
              <a:off x="3888" y="3782"/>
              <a:ext cx="108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Data collection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 txBox="1"/>
          <p:nvPr>
            <p:ph type="title"/>
          </p:nvPr>
        </p:nvSpPr>
        <p:spPr>
          <a:xfrm>
            <a:off x="6858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User-Centered Design</a:t>
            </a:r>
            <a:endParaRPr/>
          </a:p>
        </p:txBody>
      </p:sp>
      <p:sp>
        <p:nvSpPr>
          <p:cNvPr id="162" name="Google Shape;162;p5"/>
          <p:cNvSpPr txBox="1"/>
          <p:nvPr>
            <p:ph idx="1" type="body"/>
          </p:nvPr>
        </p:nvSpPr>
        <p:spPr>
          <a:xfrm>
            <a:off x="685800" y="914400"/>
            <a:ext cx="8077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 philosophy of design from the field of Human Computer Interaction that asks...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</a:rPr>
              <a:t>	“What is the experience like for the user?”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Times"/>
              <a:buNone/>
            </a:pPr>
            <a:r>
              <a:rPr b="0" i="0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			</a:t>
            </a:r>
            <a:r>
              <a:rPr b="0" i="0" lang="en-US" sz="14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b="0" i="0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Norman &amp; Draper, 1986. </a:t>
            </a:r>
            <a:r>
              <a:rPr b="0" i="1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User-centered system design</a:t>
            </a:r>
            <a:r>
              <a:rPr b="0" i="0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720725" y="2514600"/>
            <a:ext cx="7966075" cy="234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Three characteristics of UCD: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b="0" i="1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early and continuing focus on users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b="0" i="1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empirical measurement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(direct observation of actual users)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AutoNum type="arabicPeriod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an </a:t>
            </a:r>
            <a:r>
              <a:rPr b="0" i="1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iterative process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of design, test, and redesign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				</a:t>
            </a:r>
            <a:r>
              <a:rPr b="0" i="0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(Gould &amp; Lewis, 1985. </a:t>
            </a:r>
            <a:r>
              <a:rPr b="0" i="1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Designing for usability: </a:t>
            </a:r>
            <a:br>
              <a:rPr b="0" i="1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0" i="1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			Key principles and what users think</a:t>
            </a:r>
            <a:r>
              <a:rPr b="0" i="0" lang="en-US" sz="16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</p:spTree>
  </p:cSld>
  <p:clrMapOvr>
    <a:masterClrMapping/>
  </p:clrMapOvr>
  <p:transition spd="slow">
    <p:wipe dir="r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>
            <p:ph type="title"/>
          </p:nvPr>
        </p:nvSpPr>
        <p:spPr>
          <a:xfrm>
            <a:off x="685800" y="228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Types of evaluation</a:t>
            </a:r>
            <a:endParaRPr/>
          </a:p>
        </p:txBody>
      </p:sp>
      <p:grpSp>
        <p:nvGrpSpPr>
          <p:cNvPr id="170" name="Google Shape;170;p6"/>
          <p:cNvGrpSpPr/>
          <p:nvPr/>
        </p:nvGrpSpPr>
        <p:grpSpPr>
          <a:xfrm>
            <a:off x="2133600" y="1393825"/>
            <a:ext cx="6443662" cy="1120775"/>
            <a:chOff x="1344" y="878"/>
            <a:chExt cx="4059" cy="706"/>
          </a:xfrm>
        </p:grpSpPr>
        <p:sp>
          <p:nvSpPr>
            <p:cNvPr id="171" name="Google Shape;171;p6"/>
            <p:cNvSpPr/>
            <p:nvPr/>
          </p:nvSpPr>
          <p:spPr>
            <a:xfrm flipH="1" rot="10800000">
              <a:off x="2016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 flipH="1" rot="10800000">
              <a:off x="2544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 flipH="1" rot="10800000">
              <a:off x="3120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4" name="Google Shape;174;p6"/>
            <p:cNvSpPr/>
            <p:nvPr/>
          </p:nvSpPr>
          <p:spPr>
            <a:xfrm flipH="1" rot="10800000">
              <a:off x="4848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rgbClr val="93114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 flipH="1" rot="10800000">
              <a:off x="1488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6" name="Google Shape;176;p6"/>
            <p:cNvSpPr/>
            <p:nvPr/>
          </p:nvSpPr>
          <p:spPr>
            <a:xfrm flipH="1" rot="10800000">
              <a:off x="3744" y="1440"/>
              <a:ext cx="144" cy="144"/>
            </a:xfrm>
            <a:prstGeom prst="triangle">
              <a:avLst>
                <a:gd fmla="val 50000" name="adj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1344" y="1042"/>
              <a:ext cx="206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              Formative Evaluation</a:t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4560" y="878"/>
              <a:ext cx="84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Summative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Evaluation</a:t>
              </a:r>
              <a:endParaRPr/>
            </a:p>
          </p:txBody>
        </p:sp>
      </p:grpSp>
      <p:sp>
        <p:nvSpPr>
          <p:cNvPr id="179" name="Google Shape;179;p6"/>
          <p:cNvSpPr txBox="1"/>
          <p:nvPr/>
        </p:nvSpPr>
        <p:spPr>
          <a:xfrm>
            <a:off x="2133600" y="3276600"/>
            <a:ext cx="6629400" cy="283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“how are we doing?”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goal is to improve the product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informs the design process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early and often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participants are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authentic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users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participants perform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authentic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tasks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observe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and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record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what people say and do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analyze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data, </a:t>
            </a: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diagnose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problems and make recommendations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705600" y="3276600"/>
            <a:ext cx="2438400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“how did we do?”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validate the product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-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occurs after release</a:t>
            </a:r>
            <a:endParaRPr/>
          </a:p>
        </p:txBody>
      </p:sp>
      <p:grpSp>
        <p:nvGrpSpPr>
          <p:cNvPr id="181" name="Google Shape;181;p6"/>
          <p:cNvGrpSpPr/>
          <p:nvPr/>
        </p:nvGrpSpPr>
        <p:grpSpPr>
          <a:xfrm>
            <a:off x="762000" y="2667000"/>
            <a:ext cx="8001000" cy="381000"/>
            <a:chOff x="480" y="1680"/>
            <a:chExt cx="5040" cy="240"/>
          </a:xfrm>
        </p:grpSpPr>
        <p:cxnSp>
          <p:nvCxnSpPr>
            <p:cNvPr id="182" name="Google Shape;182;p6"/>
            <p:cNvCxnSpPr/>
            <p:nvPr/>
          </p:nvCxnSpPr>
          <p:spPr>
            <a:xfrm>
              <a:off x="528" y="1680"/>
              <a:ext cx="40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3" name="Google Shape;183;p6"/>
            <p:cNvSpPr txBox="1"/>
            <p:nvPr/>
          </p:nvSpPr>
          <p:spPr>
            <a:xfrm>
              <a:off x="480" y="1680"/>
              <a:ext cx="25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Times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Times"/>
                  <a:ea typeface="Times"/>
                  <a:cs typeface="Times"/>
                  <a:sym typeface="Times"/>
                </a:rPr>
                <a:t>Project timeline: Analysis, Design… &gt;&gt;&gt;</a:t>
              </a:r>
              <a:endParaRPr/>
            </a:p>
          </p:txBody>
        </p:sp>
        <p:cxnSp>
          <p:nvCxnSpPr>
            <p:cNvPr id="184" name="Google Shape;184;p6"/>
            <p:cNvCxnSpPr/>
            <p:nvPr/>
          </p:nvCxnSpPr>
          <p:spPr>
            <a:xfrm>
              <a:off x="4560" y="1680"/>
              <a:ext cx="9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85" name="Google Shape;185;p6"/>
            <p:cNvSpPr txBox="1"/>
            <p:nvPr/>
          </p:nvSpPr>
          <p:spPr>
            <a:xfrm>
              <a:off x="4584" y="1680"/>
              <a:ext cx="888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Times"/>
                <a:buNone/>
              </a:pPr>
              <a:r>
                <a:rPr b="0" i="0" lang="en-US" sz="1800" u="none">
                  <a:solidFill>
                    <a:schemeClr val="lt2"/>
                  </a:solidFill>
                  <a:latin typeface="Times"/>
                  <a:ea typeface="Times"/>
                  <a:cs typeface="Times"/>
                  <a:sym typeface="Times"/>
                </a:rPr>
                <a:t>Final product</a:t>
              </a:r>
              <a:endParaRPr/>
            </a:p>
          </p:txBody>
        </p:sp>
        <p:cxnSp>
          <p:nvCxnSpPr>
            <p:cNvPr id="186" name="Google Shape;186;p6"/>
            <p:cNvCxnSpPr/>
            <p:nvPr/>
          </p:nvCxnSpPr>
          <p:spPr>
            <a:xfrm>
              <a:off x="528" y="1920"/>
              <a:ext cx="403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7" name="Google Shape;187;p6"/>
            <p:cNvCxnSpPr/>
            <p:nvPr/>
          </p:nvCxnSpPr>
          <p:spPr>
            <a:xfrm>
              <a:off x="4560" y="1920"/>
              <a:ext cx="96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88" name="Google Shape;188;p6"/>
            <p:cNvCxnSpPr/>
            <p:nvPr/>
          </p:nvCxnSpPr>
          <p:spPr>
            <a:xfrm>
              <a:off x="4608" y="1680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189" name="Google Shape;189;p6"/>
          <p:cNvSpPr txBox="1"/>
          <p:nvPr/>
        </p:nvSpPr>
        <p:spPr>
          <a:xfrm>
            <a:off x="4572000" y="914400"/>
            <a:ext cx="2974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   Usability Testing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"/>
              <a:buNone/>
            </a:pPr>
            <a:r>
              <a:rPr b="0" i="0" lang="en-US" sz="28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Formative and Summative evaluation strategies</a:t>
            </a:r>
            <a:endParaRPr/>
          </a:p>
        </p:txBody>
      </p:sp>
      <p:sp>
        <p:nvSpPr>
          <p:cNvPr id="196" name="Google Shape;196;p7"/>
          <p:cNvSpPr txBox="1"/>
          <p:nvPr>
            <p:ph idx="1" type="body"/>
          </p:nvPr>
        </p:nvSpPr>
        <p:spPr>
          <a:xfrm>
            <a:off x="685800" y="1295400"/>
            <a:ext cx="8153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Expert review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– designated experts review the instruction.</a:t>
            </a:r>
            <a:b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One-to-one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– evaluator observes one learner reviews the instruction.</a:t>
            </a:r>
            <a:b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Small group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– evaluator observes 3-5 learners use material and debriefs them afterwards.</a:t>
            </a:r>
            <a:b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Field test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– evaluator observes a final version implemented in realistic context with debriefings of learners afterwards. 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3581400" y="4814887"/>
            <a:ext cx="4908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"/>
              <a:buNone/>
            </a:pPr>
            <a:r>
              <a:rPr b="0" i="0" lang="en-US" sz="18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(Tessmer, 1994. </a:t>
            </a:r>
            <a:r>
              <a:rPr b="0" i="1" lang="en-US" sz="18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Formative evaluation alternatives)</a:t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228600" y="2743200"/>
            <a:ext cx="3048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114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228600" y="1295400"/>
            <a:ext cx="3048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3114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685800" y="990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"/>
              <a:buNone/>
            </a:pPr>
            <a:r>
              <a:rPr b="0" i="0" lang="en-US" sz="40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Daily Life Usability Problems </a:t>
            </a:r>
            <a:endParaRPr/>
          </a:p>
        </p:txBody>
      </p:sp>
      <p:sp>
        <p:nvSpPr>
          <p:cNvPr id="206" name="Google Shape;206;p8"/>
          <p:cNvSpPr txBox="1"/>
          <p:nvPr>
            <p:ph idx="1" type="body"/>
          </p:nvPr>
        </p:nvSpPr>
        <p:spPr>
          <a:xfrm>
            <a:off x="1143000" y="1981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Any example from real life?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</a:t>
            </a:r>
            <a:endParaRPr/>
          </a:p>
        </p:txBody>
      </p:sp>
      <p:pic>
        <p:nvPicPr>
          <p:cNvPr descr="2640571" id="213" name="Google Shape;21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762000"/>
            <a:ext cx="5334000" cy="533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 txBox="1"/>
          <p:nvPr/>
        </p:nvSpPr>
        <p:spPr>
          <a:xfrm>
            <a:off x="0" y="6167437"/>
            <a:ext cx="84772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26-11-2006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http://www.hurriyet.com.tr/gundem/5675530.asp?m=1&amp;gid=112&amp;srid=3430&amp;oid=4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</a:t>
            </a:r>
            <a:endParaRPr/>
          </a:p>
        </p:txBody>
      </p:sp>
      <p:sp>
        <p:nvSpPr>
          <p:cNvPr descr="Mithatpasa%20çelik%20ust%20yaya%20gecidi" id="221" name="Google Shape;221;p10"/>
          <p:cNvSpPr txBox="1"/>
          <p:nvPr/>
        </p:nvSpPr>
        <p:spPr>
          <a:xfrm>
            <a:off x="2190750" y="1871662"/>
            <a:ext cx="4762500" cy="311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ankara" id="222" name="Google Shape;222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838200"/>
            <a:ext cx="7391400" cy="4833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</a:t>
            </a:r>
            <a:endParaRPr/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81200"/>
            <a:ext cx="4064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3124200"/>
            <a:ext cx="4064000" cy="306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   1</a:t>
            </a:r>
            <a:endParaRPr/>
          </a:p>
        </p:txBody>
      </p:sp>
      <p:pic>
        <p:nvPicPr>
          <p:cNvPr id="237" name="Google Shape;237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831850"/>
            <a:ext cx="6477000" cy="596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"/>
          <p:cNvSpPr txBox="1"/>
          <p:nvPr>
            <p:ph type="title"/>
          </p:nvPr>
        </p:nvSpPr>
        <p:spPr>
          <a:xfrm>
            <a:off x="533400" y="76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   2</a:t>
            </a:r>
            <a:endParaRPr/>
          </a:p>
        </p:txBody>
      </p:sp>
      <p:pic>
        <p:nvPicPr>
          <p:cNvPr id="244" name="Google Shape;24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82625"/>
            <a:ext cx="6705600" cy="617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 txBox="1"/>
          <p:nvPr>
            <p:ph type="title"/>
          </p:nvPr>
        </p:nvSpPr>
        <p:spPr>
          <a:xfrm>
            <a:off x="4572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  3</a:t>
            </a:r>
            <a:endParaRPr/>
          </a:p>
        </p:txBody>
      </p:sp>
      <p:pic>
        <p:nvPicPr>
          <p:cNvPr id="251" name="Google Shape;251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685800"/>
            <a:ext cx="6172200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   4</a:t>
            </a:r>
            <a:endParaRPr/>
          </a:p>
        </p:txBody>
      </p:sp>
      <p:pic>
        <p:nvPicPr>
          <p:cNvPr id="258" name="Google Shape;25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838200"/>
            <a:ext cx="587375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22ed91dfd_0_8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usability?</a:t>
            </a:r>
            <a:endParaRPr/>
          </a:p>
        </p:txBody>
      </p:sp>
      <p:sp>
        <p:nvSpPr>
          <p:cNvPr id="265" name="Google Shape;265;g3822ed91dfd_0_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Usability means focusing on users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People use products to be productive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Users are busy people trying to accomplish tasks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Users decide when a product is easy to use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22ed91dfd_0_0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Usability Testing?</a:t>
            </a:r>
            <a:endParaRPr/>
          </a:p>
        </p:txBody>
      </p:sp>
      <p:sp>
        <p:nvSpPr>
          <p:cNvPr id="272" name="Google Shape;272;g3822ed91dfd_0_0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 ensure that the product is usable for your user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Usability testing should be an iterative practice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Completed several times during the design and development life-cycle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End result is an improved product and a better understanding of the users that we’re designing for (Kaufmann 2006)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22ed91dfd_0_17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Testing Components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g3822ed91dfd_0_17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Times New Roman"/>
              <a:buChar char="●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Test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Times New Roman"/>
              <a:buChar char="●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g3822ed91dfd_0_17"/>
          <p:cNvSpPr txBox="1"/>
          <p:nvPr/>
        </p:nvSpPr>
        <p:spPr>
          <a:xfrm>
            <a:off x="0" y="50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22ed91dfd_0_24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Testing Components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g3822ed91dfd_0_24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Times New Roman"/>
              <a:buChar char="●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testing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to identify hidden issues and eliminate surprises.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Pilot testing tests the methods of your actual study as a trial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with actual users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pilot testing you can make modifications to your final study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g3822ed91dfd_0_24"/>
          <p:cNvSpPr txBox="1"/>
          <p:nvPr/>
        </p:nvSpPr>
        <p:spPr>
          <a:xfrm>
            <a:off x="0" y="50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22ed91dfd_0_31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i="0" lang="en-US" sz="42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Testing Components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g3822ed91dfd_0_3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Times New Roman"/>
              <a:buChar char="●"/>
            </a:pPr>
            <a:r>
              <a:rPr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testing (Dumas &amp; Reddish)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 to improve usability of a product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represent real users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Participants do real tasks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observe and record what participants do and day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Times New Roman"/>
              <a:buChar char="●"/>
            </a:pPr>
            <a:r>
              <a:rPr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analyze the data, diagnose the real problems, and recommend changes to fix those problems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822ed91dfd_0_31"/>
          <p:cNvSpPr txBox="1"/>
          <p:nvPr/>
        </p:nvSpPr>
        <p:spPr>
          <a:xfrm>
            <a:off x="0" y="508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What does it mean to be usable?</a:t>
            </a:r>
            <a:endParaRPr/>
          </a:p>
        </p:txBody>
      </p:sp>
      <p:sp>
        <p:nvSpPr>
          <p:cNvPr id="303" name="Google Shape;303;p16"/>
          <p:cNvSpPr txBox="1"/>
          <p:nvPr>
            <p:ph idx="1" type="body"/>
          </p:nvPr>
        </p:nvSpPr>
        <p:spPr>
          <a:xfrm>
            <a:off x="685800" y="11430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Specified users will be able to achieve a specified goal in a specified environment in an </a:t>
            </a:r>
            <a:r>
              <a:rPr b="0" i="1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effective</a:t>
            </a:r>
            <a:r>
              <a:rPr b="0" i="0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</a:t>
            </a:r>
            <a:r>
              <a:rPr b="0" i="1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efficient</a:t>
            </a:r>
            <a:r>
              <a:rPr b="0" i="0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, and a </a:t>
            </a:r>
            <a:r>
              <a:rPr b="0" i="1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satisfying</a:t>
            </a:r>
            <a:r>
              <a:rPr b="0" i="0" lang="en-US" sz="24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manner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"/>
              <a:buNone/>
            </a:pPr>
            <a:r>
              <a:rPr b="0" i="0" lang="en-US" sz="2000" u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				(International Standards Organization)</a:t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Efficiency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Effectiveness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Satisfaction</a:t>
            </a:r>
            <a:endParaRPr/>
          </a:p>
        </p:txBody>
      </p:sp>
    </p:spTree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Conducting your test: Things to consider…</a:t>
            </a:r>
            <a:endParaRPr/>
          </a:p>
        </p:txBody>
      </p:sp>
      <p:sp>
        <p:nvSpPr>
          <p:cNvPr id="310" name="Google Shape;310;p17"/>
          <p:cNvSpPr txBox="1"/>
          <p:nvPr>
            <p:ph idx="1" type="body"/>
          </p:nvPr>
        </p:nvSpPr>
        <p:spPr>
          <a:xfrm>
            <a:off x="152400" y="990600"/>
            <a:ext cx="8382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 many users?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Length of test session?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Where to conduct the session?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Role of facilitator: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put participant(s) at ease (testing the material, not them)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observe and take notes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–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not to intervene or assist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Role, placement and responsibilities of other observers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Verbal protocol (“think-aloud”)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Token reward for participation (if appropriate)</a:t>
            </a:r>
            <a:endParaRPr/>
          </a:p>
        </p:txBody>
      </p:sp>
      <p:pic>
        <p:nvPicPr>
          <p:cNvPr descr="Usability test session"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803275"/>
            <a:ext cx="3352800" cy="22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title"/>
          </p:nvPr>
        </p:nvSpPr>
        <p:spPr>
          <a:xfrm>
            <a:off x="685800" y="1524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Understanding users’ behaviors</a:t>
            </a:r>
            <a:endParaRPr/>
          </a:p>
        </p:txBody>
      </p:sp>
      <p:sp>
        <p:nvSpPr>
          <p:cNvPr id="318" name="Google Shape;318;p18"/>
          <p:cNvSpPr txBox="1"/>
          <p:nvPr>
            <p:ph idx="1" type="body"/>
          </p:nvPr>
        </p:nvSpPr>
        <p:spPr>
          <a:xfrm>
            <a:off x="685800" y="10668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Effectiveness, efficiency, and satisfaction are not always correlated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Users tend to be more persistent in test settings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Users tend not to be critical (often blame themselves)</a:t>
            </a:r>
            <a:endParaRPr/>
          </a:p>
        </p:txBody>
      </p:sp>
      <p:pic>
        <p:nvPicPr>
          <p:cNvPr descr="usability testing" id="319" name="Google Shape;3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3124200"/>
            <a:ext cx="30861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 txBox="1"/>
          <p:nvPr>
            <p:ph type="title"/>
          </p:nvPr>
        </p:nvSpPr>
        <p:spPr>
          <a:xfrm>
            <a:off x="609600" y="76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Data collection</a:t>
            </a:r>
            <a:endParaRPr/>
          </a:p>
        </p:txBody>
      </p:sp>
      <p:sp>
        <p:nvSpPr>
          <p:cNvPr id="326" name="Google Shape;326;p19"/>
          <p:cNvSpPr txBox="1"/>
          <p:nvPr>
            <p:ph idx="1" type="body"/>
          </p:nvPr>
        </p:nvSpPr>
        <p:spPr>
          <a:xfrm>
            <a:off x="914400" y="609600"/>
            <a:ext cx="8077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Quantitative data (Statistical)</a:t>
            </a:r>
            <a:endParaRPr b="0" i="0" sz="28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Number of errors made using/delivering the instruction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Time required for instructional activity(s)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Level of performance following the instruction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Questionnaire ratings of ease of learning, using, etc.</a:t>
            </a:r>
            <a:b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Qualitative data</a:t>
            </a:r>
            <a:endParaRPr b="0" i="0" sz="28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Ease of use – are materials convenient, easy to locate, to use?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Learners’ reactions to materials, activities, evaluation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Was the environment appropriate for the instruction?</a:t>
            </a:r>
            <a:endParaRPr/>
          </a:p>
        </p:txBody>
      </p:sp>
    </p:spTree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>
            <p:ph type="title"/>
          </p:nvPr>
        </p:nvSpPr>
        <p:spPr>
          <a:xfrm>
            <a:off x="457200" y="76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Analyzing &amp; reporting your usability results</a:t>
            </a:r>
            <a:endParaRPr/>
          </a:p>
        </p:txBody>
      </p:sp>
      <p:sp>
        <p:nvSpPr>
          <p:cNvPr id="333" name="Google Shape;333;p20"/>
          <p:cNvSpPr txBox="1"/>
          <p:nvPr>
            <p:ph idx="1" type="body"/>
          </p:nvPr>
        </p:nvSpPr>
        <p:spPr>
          <a:xfrm>
            <a:off x="533400" y="685800"/>
            <a:ext cx="8153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Quantitative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descriptive data (number of users, time spent, errors)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be sure and discuss any data tables (what do they mean?)</a:t>
            </a:r>
            <a:b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Qualitative data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consolidate your observations (negatives and positives!)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extract common themes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identify critical themes (e.g. length of time required)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perform member checking if possible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determine solutions for addressing the problems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summarize and present your findings and solutions</a:t>
            </a:r>
            <a:endParaRPr/>
          </a:p>
        </p:txBody>
      </p:sp>
    </p:spTree>
  </p:cSld>
  <p:clrMapOvr>
    <a:masterClrMapping/>
  </p:clrMapOvr>
  <p:transition spd="slow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>
            <p:ph type="title"/>
          </p:nvPr>
        </p:nvSpPr>
        <p:spPr>
          <a:xfrm>
            <a:off x="152400" y="76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Protocol</a:t>
            </a:r>
            <a:endParaRPr/>
          </a:p>
        </p:txBody>
      </p:sp>
      <p:sp>
        <p:nvSpPr>
          <p:cNvPr id="340" name="Google Shape;340;p21"/>
          <p:cNvSpPr txBox="1"/>
          <p:nvPr>
            <p:ph idx="1" type="body"/>
          </p:nvPr>
        </p:nvSpPr>
        <p:spPr>
          <a:xfrm>
            <a:off x="533400" y="6858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Thank you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...for agreeing to participate in this session.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Product Description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...An educational software to teach Physics.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1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Purpose of session</a:t>
            </a: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...is to make this product better.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This product may have problems.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Any problems you have or find with the product is with the product, not your fault.</a:t>
            </a:r>
            <a:endParaRPr b="1" i="0" sz="20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Instructions</a:t>
            </a: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...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I'll be asking you do certain things with the program and watching and writing notes as you do them. That's just to help me remember how things went later on.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To help me do this, I'd like you to "think out loud" as you use the program and make your decisions to do certain things.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I'd like you to try and perform the given tasks on your own as best you can. If you’re really stuck, I may be able to help, but I’d really like you to try it without my help.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Char char="–"/>
            </a:pPr>
            <a:r>
              <a:rPr b="0" i="0" lang="en-US" sz="20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At any time, you can quit a particular task and move on or you may choose to quit the entire session.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 rot="10800000">
            <a:off x="3505200" y="2476500"/>
            <a:ext cx="3886200" cy="1752600"/>
          </a:xfrm>
          <a:prstGeom prst="ellipse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7" name="Google Shape;347;p22"/>
          <p:cNvSpPr/>
          <p:nvPr/>
        </p:nvSpPr>
        <p:spPr>
          <a:xfrm rot="5400000">
            <a:off x="6819900" y="2857500"/>
            <a:ext cx="2286000" cy="990600"/>
          </a:xfrm>
          <a:prstGeom prst="ellipse">
            <a:avLst/>
          </a:prstGeom>
          <a:solidFill>
            <a:srgbClr val="99CC0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8" name="Google Shape;348;p22"/>
          <p:cNvSpPr/>
          <p:nvPr/>
        </p:nvSpPr>
        <p:spPr>
          <a:xfrm rot="5400000">
            <a:off x="952500" y="2324100"/>
            <a:ext cx="2286000" cy="1752600"/>
          </a:xfrm>
          <a:prstGeom prst="ellipse">
            <a:avLst/>
          </a:prstGeom>
          <a:solidFill>
            <a:srgbClr val="CDF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1143000" y="1600200"/>
            <a:ext cx="6781800" cy="685800"/>
          </a:xfrm>
          <a:prstGeom prst="ellipse">
            <a:avLst/>
          </a:prstGeom>
          <a:solidFill>
            <a:srgbClr val="CDF9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0" name="Google Shape;350;p22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Observation sheet</a:t>
            </a:r>
            <a:endParaRPr/>
          </a:p>
        </p:txBody>
      </p:sp>
      <p:graphicFrame>
        <p:nvGraphicFramePr>
          <p:cNvPr id="351" name="Google Shape;351;p22"/>
          <p:cNvGraphicFramePr/>
          <p:nvPr/>
        </p:nvGraphicFramePr>
        <p:xfrm>
          <a:off x="1219200" y="17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{ADB106F2-6AB4-4373-884C-E898AA932C3B}</a:tableStyleId>
              </a:tblPr>
              <a:tblGrid>
                <a:gridCol w="331775"/>
                <a:gridCol w="1343025"/>
                <a:gridCol w="333375"/>
                <a:gridCol w="749300"/>
                <a:gridCol w="1489075"/>
                <a:gridCol w="1109650"/>
                <a:gridCol w="990600"/>
                <a:gridCol w="663575"/>
              </a:tblGrid>
              <a:tr h="4572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"/>
                        <a:buNone/>
                      </a:pPr>
                      <a:r>
                        <a:rPr b="0" i="0" lang="en-US" sz="1000" u="none" cap="none" strike="noStrik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Start time: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"/>
                        <a:buNone/>
                      </a:pPr>
                      <a:r>
                        <a:rPr b="0" i="0" lang="en-US" sz="10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Finish time: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Times"/>
                        <a:buNone/>
                      </a:pPr>
                      <a:r>
                        <a:rPr b="0" i="0" lang="en-US" sz="10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 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2425">
                <a:tc gridSpan="3"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page/link  name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Notes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1" i="0" lang="en-US" sz="12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+/-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"/>
                        <a:buNone/>
                      </a:pPr>
                      <a:r>
                        <a:rPr b="0" i="0" lang="en-US" sz="1200" u="none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name of starting page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vMerge="1"/>
              </a:tr>
              <a:tr h="457200"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vMerge="1"/>
              </a:tr>
            </a:tbl>
          </a:graphicData>
        </a:graphic>
      </p:graphicFrame>
      <p:cxnSp>
        <p:nvCxnSpPr>
          <p:cNvPr id="352" name="Google Shape;352;p22"/>
          <p:cNvCxnSpPr/>
          <p:nvPr/>
        </p:nvCxnSpPr>
        <p:spPr>
          <a:xfrm flipH="1">
            <a:off x="7010400" y="914400"/>
            <a:ext cx="533400" cy="76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3" name="Google Shape;353;p22"/>
          <p:cNvSpPr txBox="1"/>
          <p:nvPr/>
        </p:nvSpPr>
        <p:spPr>
          <a:xfrm>
            <a:off x="6842125" y="422275"/>
            <a:ext cx="1450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Efficiency</a:t>
            </a:r>
            <a:endParaRPr/>
          </a:p>
        </p:txBody>
      </p:sp>
      <p:cxnSp>
        <p:nvCxnSpPr>
          <p:cNvPr id="354" name="Google Shape;354;p22"/>
          <p:cNvCxnSpPr/>
          <p:nvPr/>
        </p:nvCxnSpPr>
        <p:spPr>
          <a:xfrm rot="10800000">
            <a:off x="6019800" y="4343400"/>
            <a:ext cx="304800" cy="99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5" name="Google Shape;355;p22"/>
          <p:cNvCxnSpPr/>
          <p:nvPr/>
        </p:nvCxnSpPr>
        <p:spPr>
          <a:xfrm flipH="1" rot="10800000">
            <a:off x="6477000" y="4495800"/>
            <a:ext cx="1143000" cy="838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6" name="Google Shape;356;p22"/>
          <p:cNvSpPr txBox="1"/>
          <p:nvPr/>
        </p:nvSpPr>
        <p:spPr>
          <a:xfrm>
            <a:off x="5622925" y="5299075"/>
            <a:ext cx="18240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Effectiveness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838200" y="5410200"/>
            <a:ext cx="1450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Efficiency</a:t>
            </a:r>
            <a:endParaRPr/>
          </a:p>
        </p:txBody>
      </p:sp>
      <p:cxnSp>
        <p:nvCxnSpPr>
          <p:cNvPr id="358" name="Google Shape;358;p22"/>
          <p:cNvCxnSpPr/>
          <p:nvPr/>
        </p:nvCxnSpPr>
        <p:spPr>
          <a:xfrm flipH="1" rot="10800000">
            <a:off x="1524000" y="4495800"/>
            <a:ext cx="381000" cy="91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"/>
              <a:buNone/>
            </a:pPr>
            <a:r>
              <a:rPr b="0" i="0" lang="en-US" sz="3200" u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rPr>
              <a:t>Analyzing &amp; reporting your usability results</a:t>
            </a:r>
            <a:endParaRPr/>
          </a:p>
        </p:txBody>
      </p:sp>
      <p:cxnSp>
        <p:nvCxnSpPr>
          <p:cNvPr id="365" name="Google Shape;365;p23"/>
          <p:cNvCxnSpPr/>
          <p:nvPr/>
        </p:nvCxnSpPr>
        <p:spPr>
          <a:xfrm>
            <a:off x="762000" y="2590800"/>
            <a:ext cx="7467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66" name="Google Shape;366;p23"/>
          <p:cNvSpPr txBox="1"/>
          <p:nvPr/>
        </p:nvSpPr>
        <p:spPr>
          <a:xfrm>
            <a:off x="669925" y="2209800"/>
            <a:ext cx="17922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Observations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3124200" y="2209800"/>
            <a:ext cx="21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Interpretation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5943600" y="2209800"/>
            <a:ext cx="251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Recommendation</a:t>
            </a:r>
            <a:endParaRPr/>
          </a:p>
        </p:txBody>
      </p:sp>
      <p:cxnSp>
        <p:nvCxnSpPr>
          <p:cNvPr id="369" name="Google Shape;369;p23"/>
          <p:cNvCxnSpPr/>
          <p:nvPr/>
        </p:nvCxnSpPr>
        <p:spPr>
          <a:xfrm>
            <a:off x="2819400" y="2743200"/>
            <a:ext cx="0" cy="25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70" name="Google Shape;370;p23"/>
          <p:cNvCxnSpPr/>
          <p:nvPr/>
        </p:nvCxnSpPr>
        <p:spPr>
          <a:xfrm>
            <a:off x="5562600" y="2743200"/>
            <a:ext cx="0" cy="25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5"/>
          <p:cNvGrpSpPr/>
          <p:nvPr/>
        </p:nvGrpSpPr>
        <p:grpSpPr>
          <a:xfrm>
            <a:off x="381000" y="457200"/>
            <a:ext cx="8382000" cy="3429000"/>
            <a:chOff x="240" y="288"/>
            <a:chExt cx="5280" cy="2160"/>
          </a:xfrm>
        </p:grpSpPr>
        <p:cxnSp>
          <p:nvCxnSpPr>
            <p:cNvPr id="377" name="Google Shape;377;p25"/>
            <p:cNvCxnSpPr/>
            <p:nvPr/>
          </p:nvCxnSpPr>
          <p:spPr>
            <a:xfrm flipH="1" rot="10800000">
              <a:off x="720" y="672"/>
              <a:ext cx="2064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8" name="Google Shape;378;p25"/>
            <p:cNvCxnSpPr/>
            <p:nvPr/>
          </p:nvCxnSpPr>
          <p:spPr>
            <a:xfrm flipH="1" rot="10800000">
              <a:off x="912" y="672"/>
              <a:ext cx="1872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79" name="Google Shape;379;p25"/>
            <p:cNvCxnSpPr/>
            <p:nvPr/>
          </p:nvCxnSpPr>
          <p:spPr>
            <a:xfrm flipH="1" rot="10800000">
              <a:off x="1200" y="672"/>
              <a:ext cx="1584" cy="7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0" name="Google Shape;380;p25"/>
            <p:cNvCxnSpPr/>
            <p:nvPr/>
          </p:nvCxnSpPr>
          <p:spPr>
            <a:xfrm flipH="1" rot="10800000">
              <a:off x="1488" y="672"/>
              <a:ext cx="1296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1" name="Google Shape;381;p25"/>
            <p:cNvCxnSpPr/>
            <p:nvPr/>
          </p:nvCxnSpPr>
          <p:spPr>
            <a:xfrm rot="10800000">
              <a:off x="2784" y="672"/>
              <a:ext cx="96" cy="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2" name="Google Shape;382;p25"/>
            <p:cNvCxnSpPr/>
            <p:nvPr/>
          </p:nvCxnSpPr>
          <p:spPr>
            <a:xfrm rot="10800000">
              <a:off x="2784" y="672"/>
              <a:ext cx="1576" cy="11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3" name="Google Shape;383;p25"/>
            <p:cNvCxnSpPr/>
            <p:nvPr/>
          </p:nvCxnSpPr>
          <p:spPr>
            <a:xfrm rot="10800000">
              <a:off x="2784" y="672"/>
              <a:ext cx="2256" cy="57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384" name="Google Shape;384;p25"/>
            <p:cNvGrpSpPr/>
            <p:nvPr/>
          </p:nvGrpSpPr>
          <p:grpSpPr>
            <a:xfrm>
              <a:off x="240" y="288"/>
              <a:ext cx="5280" cy="2160"/>
              <a:chOff x="240" y="288"/>
              <a:chExt cx="5280" cy="2160"/>
            </a:xfrm>
          </p:grpSpPr>
          <p:sp>
            <p:nvSpPr>
              <p:cNvPr id="385" name="Google Shape;385;p25"/>
              <p:cNvSpPr/>
              <p:nvPr/>
            </p:nvSpPr>
            <p:spPr>
              <a:xfrm>
                <a:off x="1728" y="1680"/>
                <a:ext cx="2208" cy="768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6" name="Google Shape;386;p25"/>
              <p:cNvSpPr/>
              <p:nvPr/>
            </p:nvSpPr>
            <p:spPr>
              <a:xfrm>
                <a:off x="240" y="816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7" name="Google Shape;387;p25"/>
              <p:cNvSpPr/>
              <p:nvPr/>
            </p:nvSpPr>
            <p:spPr>
              <a:xfrm>
                <a:off x="432" y="1152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8" name="Google Shape;388;p25"/>
              <p:cNvSpPr/>
              <p:nvPr/>
            </p:nvSpPr>
            <p:spPr>
              <a:xfrm>
                <a:off x="720" y="1392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89" name="Google Shape;389;p25"/>
              <p:cNvSpPr/>
              <p:nvPr/>
            </p:nvSpPr>
            <p:spPr>
              <a:xfrm>
                <a:off x="1056" y="1680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0" name="Google Shape;390;p25"/>
              <p:cNvSpPr/>
              <p:nvPr/>
            </p:nvSpPr>
            <p:spPr>
              <a:xfrm>
                <a:off x="5088" y="1248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1" name="Google Shape;391;p25"/>
              <p:cNvSpPr/>
              <p:nvPr/>
            </p:nvSpPr>
            <p:spPr>
              <a:xfrm>
                <a:off x="4320" y="1824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392" name="Google Shape;392;p25"/>
              <p:cNvSpPr txBox="1"/>
              <p:nvPr/>
            </p:nvSpPr>
            <p:spPr>
              <a:xfrm>
                <a:off x="2018" y="2045"/>
                <a:ext cx="1737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imes"/>
                  <a:buNone/>
                </a:pPr>
                <a:r>
                  <a:rPr b="0" i="0" lang="en-US" sz="2000" u="none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(~ Formative Evaluation)</a:t>
                </a:r>
                <a:endParaRPr/>
              </a:p>
            </p:txBody>
          </p:sp>
          <p:sp>
            <p:nvSpPr>
              <p:cNvPr id="393" name="Google Shape;393;p25"/>
              <p:cNvSpPr txBox="1"/>
              <p:nvPr/>
            </p:nvSpPr>
            <p:spPr>
              <a:xfrm>
                <a:off x="1247" y="288"/>
                <a:ext cx="3361" cy="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3200"/>
                  <a:buFont typeface="Times"/>
                  <a:buNone/>
                </a:pPr>
                <a:r>
                  <a:rPr b="0" i="0" lang="en-US" sz="3200" u="none">
                    <a:solidFill>
                      <a:schemeClr val="dk1"/>
                    </a:solidFill>
                    <a:latin typeface="Times"/>
                    <a:ea typeface="Times"/>
                    <a:cs typeface="Times"/>
                    <a:sym typeface="Times"/>
                  </a:rPr>
                  <a:t>User-Centered Design Methods</a:t>
                </a:r>
                <a:endParaRPr/>
              </a:p>
            </p:txBody>
          </p:sp>
          <p:sp>
            <p:nvSpPr>
              <p:cNvPr id="394" name="Google Shape;394;p25"/>
              <p:cNvSpPr/>
              <p:nvPr/>
            </p:nvSpPr>
            <p:spPr>
              <a:xfrm>
                <a:off x="4752" y="1536"/>
                <a:ext cx="432" cy="192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cxnSp>
          <p:nvCxnSpPr>
            <p:cNvPr id="395" name="Google Shape;395;p25"/>
            <p:cNvCxnSpPr/>
            <p:nvPr/>
          </p:nvCxnSpPr>
          <p:spPr>
            <a:xfrm rot="10800000">
              <a:off x="2784" y="672"/>
              <a:ext cx="1920" cy="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96" name="Google Shape;396;p25"/>
          <p:cNvSpPr txBox="1"/>
          <p:nvPr/>
        </p:nvSpPr>
        <p:spPr>
          <a:xfrm>
            <a:off x="3429000" y="28956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"/>
              <a:buNone/>
            </a:pPr>
            <a:r>
              <a:rPr b="0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Usability Testing</a:t>
            </a:r>
            <a:endParaRPr/>
          </a:p>
        </p:txBody>
      </p:sp>
      <p:grpSp>
        <p:nvGrpSpPr>
          <p:cNvPr id="397" name="Google Shape;397;p25"/>
          <p:cNvGrpSpPr/>
          <p:nvPr/>
        </p:nvGrpSpPr>
        <p:grpSpPr>
          <a:xfrm>
            <a:off x="304800" y="3733800"/>
            <a:ext cx="8610600" cy="2911475"/>
            <a:chOff x="192" y="2352"/>
            <a:chExt cx="5424" cy="1834"/>
          </a:xfrm>
        </p:grpSpPr>
        <p:sp>
          <p:nvSpPr>
            <p:cNvPr id="398" name="Google Shape;398;p25"/>
            <p:cNvSpPr txBox="1"/>
            <p:nvPr/>
          </p:nvSpPr>
          <p:spPr>
            <a:xfrm>
              <a:off x="192" y="2880"/>
              <a:ext cx="1309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What does it mean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for something to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be </a:t>
              </a:r>
              <a:r>
                <a:rPr b="0" i="1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usable</a:t>
              </a: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?</a:t>
              </a:r>
              <a:endParaRPr/>
            </a:p>
          </p:txBody>
        </p:sp>
        <p:sp>
          <p:nvSpPr>
            <p:cNvPr id="399" name="Google Shape;399;p25"/>
            <p:cNvSpPr txBox="1"/>
            <p:nvPr/>
          </p:nvSpPr>
          <p:spPr>
            <a:xfrm>
              <a:off x="4579" y="2918"/>
              <a:ext cx="1037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Reporting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the results of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a usability test</a:t>
              </a:r>
              <a:endParaRPr/>
            </a:p>
          </p:txBody>
        </p:sp>
        <p:sp>
          <p:nvSpPr>
            <p:cNvPr id="400" name="Google Shape;400;p25"/>
            <p:cNvSpPr txBox="1"/>
            <p:nvPr/>
          </p:nvSpPr>
          <p:spPr>
            <a:xfrm>
              <a:off x="1344" y="3408"/>
              <a:ext cx="1093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Conducting an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evaluation</a:t>
              </a:r>
              <a:endParaRPr/>
            </a:p>
          </p:txBody>
        </p:sp>
        <p:sp>
          <p:nvSpPr>
            <p:cNvPr id="401" name="Google Shape;401;p25"/>
            <p:cNvSpPr txBox="1"/>
            <p:nvPr/>
          </p:nvSpPr>
          <p:spPr>
            <a:xfrm>
              <a:off x="2448" y="3744"/>
              <a:ext cx="1158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Understanding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users’ behaviors</a:t>
              </a:r>
              <a:endParaRPr/>
            </a:p>
          </p:txBody>
        </p:sp>
        <p:cxnSp>
          <p:nvCxnSpPr>
            <p:cNvPr id="402" name="Google Shape;402;p25"/>
            <p:cNvCxnSpPr/>
            <p:nvPr/>
          </p:nvCxnSpPr>
          <p:spPr>
            <a:xfrm flipH="1" rot="10800000">
              <a:off x="1008" y="2352"/>
              <a:ext cx="864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3" name="Google Shape;403;p25"/>
            <p:cNvCxnSpPr/>
            <p:nvPr/>
          </p:nvCxnSpPr>
          <p:spPr>
            <a:xfrm flipH="1" rot="10800000">
              <a:off x="2016" y="2496"/>
              <a:ext cx="384" cy="8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4" name="Google Shape;404;p25"/>
            <p:cNvCxnSpPr/>
            <p:nvPr/>
          </p:nvCxnSpPr>
          <p:spPr>
            <a:xfrm flipH="1">
              <a:off x="2928" y="2544"/>
              <a:ext cx="48" cy="11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5" name="Google Shape;405;p25"/>
            <p:cNvCxnSpPr/>
            <p:nvPr/>
          </p:nvCxnSpPr>
          <p:spPr>
            <a:xfrm>
              <a:off x="3792" y="2400"/>
              <a:ext cx="912" cy="48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406" name="Google Shape;406;p25"/>
            <p:cNvCxnSpPr/>
            <p:nvPr/>
          </p:nvCxnSpPr>
          <p:spPr>
            <a:xfrm>
              <a:off x="3456" y="2448"/>
              <a:ext cx="672" cy="124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07" name="Google Shape;407;p25"/>
            <p:cNvSpPr txBox="1"/>
            <p:nvPr/>
          </p:nvSpPr>
          <p:spPr>
            <a:xfrm>
              <a:off x="3888" y="3782"/>
              <a:ext cx="1087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Data collection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822ed91dfd_0_117"/>
          <p:cNvSpPr txBox="1"/>
          <p:nvPr>
            <p:ph type="title"/>
          </p:nvPr>
        </p:nvSpPr>
        <p:spPr>
          <a:xfrm>
            <a:off x="685800" y="609600"/>
            <a:ext cx="7772400" cy="762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Any Question(s)</a:t>
            </a:r>
            <a:endParaRPr/>
          </a:p>
        </p:txBody>
      </p:sp>
      <p:sp>
        <p:nvSpPr>
          <p:cNvPr id="414" name="Google Shape;414;g3822ed91dfd_0_117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2002-09-29T18:33:56Z</dcterms:created>
  <dc:creator>Todd Zazelenchuk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