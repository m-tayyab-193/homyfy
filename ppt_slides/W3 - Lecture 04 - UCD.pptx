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3" r:id="rId6"/>
    <p:sldMasterId id="214748367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6858000" cx="9144000"/>
  <p:notesSz cx="6858000" cy="9144000"/>
  <p:embeddedFontLst>
    <p:embeddedFont>
      <p:font typeface="Corbel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gysK3p/0/NvgwFF0vmIJKdRwbL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4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3.xml"/><Relationship Id="rId43" Type="http://schemas.openxmlformats.org/officeDocument/2006/relationships/font" Target="fonts/Corbel-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45" Type="http://customschemas.google.com/relationships/presentationmetadata" Target="meta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2353d521b_0_14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2353d521b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82353d521b_0_140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2353d521b_0_10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7" name="Google Shape;167;g382353d521b_0_10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8" name="Google Shape;168;g382353d521b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2353d521b_0_14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5" name="Google Shape;175;g382353d521b_0_14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6" name="Google Shape;176;g382353d521b_0_1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2353d521b_0_143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3" name="Google Shape;183;g382353d521b_0_14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4" name="Google Shape;184;g382353d521b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2353d521b_0_14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0" name="Google Shape;190;g382353d521b_0_14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1" name="Google Shape;191;g382353d521b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2353d521b_0_145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8" name="Google Shape;198;g382353d521b_0_14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9" name="Google Shape;199;g382353d521b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2353d521b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82353d521b_0_10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2353d521b_0_14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1" name="Google Shape;211;g382353d521b_0_14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2" name="Google Shape;212;g382353d521b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2353d521b_0_10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9" name="Google Shape;219;g382353d521b_0_10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0" name="Google Shape;220;g382353d521b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2353d521b_0_105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6" name="Google Shape;226;g382353d521b_0_10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7" name="Google Shape;227;g382353d521b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2353d521b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82353d521b_0_10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2353d521b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82353d521b_0_10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2353d521b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82353d521b_0_10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2353d521b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82353d521b_0_10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2353d521b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82353d521b_0_10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2353d521b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82353d521b_0_1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2353d521b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82353d521b_0_1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2353d521b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82353d521b_0_1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2353d521b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82353d521b_0_1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2353d521b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82353d521b_0_1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2353d521b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82353d521b_0_1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2353d521b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82353d521b_0_1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2353d521b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2353d521b_0_1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2353d521b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82353d521b_0_1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2353d521b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82353d521b_0_1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2353d521b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82353d521b_0_11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353d521b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82353d521b_0_1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2353d521b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82353d521b_0_1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2353d521b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82353d521b_0_1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2353d521b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82353d521b_0_1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2353d521b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82353d521b_0_1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2353d521b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82353d521b_0_11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  <a:defRPr/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685800" y="16002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30" name="Google Shape;30;p32"/>
          <p:cNvSpPr txBox="1"/>
          <p:nvPr>
            <p:ph idx="2" type="body"/>
          </p:nvPr>
        </p:nvSpPr>
        <p:spPr>
          <a:xfrm>
            <a:off x="4648200" y="16002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 rot="5400000">
            <a:off x="2324100" y="-38100"/>
            <a:ext cx="4495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5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5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9pPr>
          </a:lstStyle>
          <a:p/>
        </p:txBody>
      </p:sp>
      <p:sp>
        <p:nvSpPr>
          <p:cNvPr id="56" name="Google Shape;56;p3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7" name="Google Shape;57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2" name="Google Shape;72;p3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3" name="Google Shape;73;p3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4" name="Google Shape;74;p3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353d521b_0_1223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82353d521b_0_1223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82353d521b_0_1223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df8783751c3c54a8">
  <p:cSld name="BLANK_df8783751c3c54a8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2353d521b_0_1242"/>
          <p:cNvSpPr txBox="1"/>
          <p:nvPr>
            <p:ph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82353d521b_0_1242"/>
          <p:cNvSpPr txBox="1"/>
          <p:nvPr>
            <p:ph idx="1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3" name="Google Shape;113;g382353d521b_0_1242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82353d521b_0_1242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82353d521b_0_1242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2353d521b_0_1248"/>
          <p:cNvSpPr txBox="1"/>
          <p:nvPr>
            <p:ph type="title"/>
          </p:nvPr>
        </p:nvSpPr>
        <p:spPr>
          <a:xfrm rot="5400000">
            <a:off x="4694250" y="2209789"/>
            <a:ext cx="58515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82353d521b_0_1248"/>
          <p:cNvSpPr txBox="1"/>
          <p:nvPr>
            <p:ph idx="1" type="body"/>
          </p:nvPr>
        </p:nvSpPr>
        <p:spPr>
          <a:xfrm rot="5400000">
            <a:off x="617550" y="266689"/>
            <a:ext cx="58515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9" name="Google Shape;119;g382353d521b_0_1248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82353d521b_0_1248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82353d521b_0_1248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2353d521b_0_1254"/>
          <p:cNvSpPr txBox="1"/>
          <p:nvPr>
            <p:ph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82353d521b_0_1254"/>
          <p:cNvSpPr txBox="1"/>
          <p:nvPr>
            <p:ph idx="1" type="body"/>
          </p:nvPr>
        </p:nvSpPr>
        <p:spPr>
          <a:xfrm rot="5400000">
            <a:off x="2514600" y="18415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5" name="Google Shape;125;g382353d521b_0_1254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82353d521b_0_1254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82353d521b_0_1254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2353d521b_0_1260"/>
          <p:cNvSpPr txBox="1"/>
          <p:nvPr>
            <p:ph type="title"/>
          </p:nvPr>
        </p:nvSpPr>
        <p:spPr>
          <a:xfrm>
            <a:off x="685800" y="273050"/>
            <a:ext cx="82296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82353d521b_0_1260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1" name="Google Shape;131;g382353d521b_0_1260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2" name="Google Shape;132;g382353d521b_0_1260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82353d521b_0_1260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82353d521b_0_1260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2353d521b_0_126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82353d521b_0_1267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82353d521b_0_1267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82353d521b_0_1267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2353d521b_0_128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82353d521b_0_1285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7" name="Google Shape;157;g382353d521b_0_1285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8" name="Google Shape;158;g382353d521b_0_1285"/>
          <p:cNvSpPr txBox="1"/>
          <p:nvPr>
            <p:ph idx="12" type="sldNum"/>
          </p:nvPr>
        </p:nvSpPr>
        <p:spPr>
          <a:xfrm>
            <a:off x="231775" y="6423025"/>
            <a:ext cx="8686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theme" Target="../theme/theme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65000">
              <a:srgbClr val="000000"/>
            </a:gs>
            <a:gs pos="100000">
              <a:srgbClr val="5A77A9"/>
            </a:gs>
          </a:gsLst>
          <a:lin ang="5400012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2353d521b_0_1217"/>
          <p:cNvSpPr txBox="1"/>
          <p:nvPr>
            <p:ph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sp>
        <p:nvSpPr>
          <p:cNvPr id="86" name="Google Shape;86;g382353d521b_0_1217"/>
          <p:cNvSpPr txBox="1"/>
          <p:nvPr>
            <p:ph idx="1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9575" lvl="0" marL="457200" marR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algn="l">
              <a:spcBef>
                <a:spcPts val="440"/>
              </a:spcBef>
              <a:spcAft>
                <a:spcPts val="0"/>
              </a:spcAft>
              <a:buClr>
                <a:srgbClr val="FEB80A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rgbClr val="FEB80A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7" name="Google Shape;87;g382353d521b_0_1217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82353d521b_0_1217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82353d521b_0_1217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65000">
              <a:srgbClr val="000000"/>
            </a:gs>
            <a:gs pos="100000">
              <a:srgbClr val="5A77A9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353d521b_0_1227"/>
          <p:cNvSpPr txBox="1"/>
          <p:nvPr/>
        </p:nvSpPr>
        <p:spPr>
          <a:xfrm>
            <a:off x="0" y="0"/>
            <a:ext cx="365100" cy="685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82353d521b_0_1227"/>
          <p:cNvSpPr txBox="1"/>
          <p:nvPr/>
        </p:nvSpPr>
        <p:spPr>
          <a:xfrm>
            <a:off x="255587" y="5046662"/>
            <a:ext cx="72900" cy="169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82353d521b_0_1227"/>
          <p:cNvSpPr txBox="1"/>
          <p:nvPr/>
        </p:nvSpPr>
        <p:spPr>
          <a:xfrm>
            <a:off x="255587" y="4797425"/>
            <a:ext cx="72900" cy="228600"/>
          </a:xfrm>
          <a:prstGeom prst="rect">
            <a:avLst/>
          </a:prstGeom>
          <a:solidFill>
            <a:srgbClr val="FEB8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82353d521b_0_1227"/>
          <p:cNvSpPr txBox="1"/>
          <p:nvPr/>
        </p:nvSpPr>
        <p:spPr>
          <a:xfrm>
            <a:off x="255587" y="4637087"/>
            <a:ext cx="72900" cy="13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82353d521b_0_1227"/>
          <p:cNvSpPr txBox="1"/>
          <p:nvPr/>
        </p:nvSpPr>
        <p:spPr>
          <a:xfrm>
            <a:off x="255587" y="4541837"/>
            <a:ext cx="72900" cy="7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82353d521b_0_1227"/>
          <p:cNvSpPr txBox="1"/>
          <p:nvPr/>
        </p:nvSpPr>
        <p:spPr>
          <a:xfrm>
            <a:off x="309562" y="681037"/>
            <a:ext cx="459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82353d521b_0_1227"/>
          <p:cNvSpPr txBox="1"/>
          <p:nvPr/>
        </p:nvSpPr>
        <p:spPr>
          <a:xfrm>
            <a:off x="268287" y="681037"/>
            <a:ext cx="285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82353d521b_0_1227"/>
          <p:cNvSpPr txBox="1"/>
          <p:nvPr/>
        </p:nvSpPr>
        <p:spPr>
          <a:xfrm>
            <a:off x="249237" y="681037"/>
            <a:ext cx="96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82353d521b_0_1227"/>
          <p:cNvSpPr txBox="1"/>
          <p:nvPr/>
        </p:nvSpPr>
        <p:spPr>
          <a:xfrm>
            <a:off x="222250" y="681037"/>
            <a:ext cx="78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82353d521b_0_1227"/>
          <p:cNvSpPr txBox="1"/>
          <p:nvPr>
            <p:ph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sp>
        <p:nvSpPr>
          <p:cNvPr id="106" name="Google Shape;106;g382353d521b_0_1227"/>
          <p:cNvSpPr txBox="1"/>
          <p:nvPr>
            <p:ph idx="1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9575" lvl="0" marL="457200" marR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algn="l">
              <a:spcBef>
                <a:spcPts val="440"/>
              </a:spcBef>
              <a:spcAft>
                <a:spcPts val="0"/>
              </a:spcAft>
              <a:buClr>
                <a:srgbClr val="FEB80A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rgbClr val="FEB80A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7" name="Google Shape;107;g382353d521b_0_1227"/>
          <p:cNvSpPr txBox="1"/>
          <p:nvPr>
            <p:ph idx="10" type="dt"/>
          </p:nvPr>
        </p:nvSpPr>
        <p:spPr>
          <a:xfrm>
            <a:off x="6477000" y="6416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382353d521b_0_1227"/>
          <p:cNvSpPr txBox="1"/>
          <p:nvPr>
            <p:ph idx="11" type="ftr"/>
          </p:nvPr>
        </p:nvSpPr>
        <p:spPr>
          <a:xfrm>
            <a:off x="914400" y="6416675"/>
            <a:ext cx="556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g382353d521b_0_1227"/>
          <p:cNvSpPr txBox="1"/>
          <p:nvPr>
            <p:ph idx="12" type="sldNum"/>
          </p:nvPr>
        </p:nvSpPr>
        <p:spPr>
          <a:xfrm>
            <a:off x="8610600" y="6416675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65000">
              <a:srgbClr val="000000"/>
            </a:gs>
            <a:gs pos="100000">
              <a:srgbClr val="5A77A9"/>
            </a:gs>
          </a:gsLst>
          <a:lin ang="5400012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2353d521b_0_1272"/>
          <p:cNvSpPr txBox="1"/>
          <p:nvPr/>
        </p:nvSpPr>
        <p:spPr>
          <a:xfrm>
            <a:off x="0" y="0"/>
            <a:ext cx="365100" cy="685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82353d521b_0_1272"/>
          <p:cNvSpPr txBox="1"/>
          <p:nvPr/>
        </p:nvSpPr>
        <p:spPr>
          <a:xfrm>
            <a:off x="255587" y="5046662"/>
            <a:ext cx="72900" cy="169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82353d521b_0_1272"/>
          <p:cNvSpPr txBox="1"/>
          <p:nvPr/>
        </p:nvSpPr>
        <p:spPr>
          <a:xfrm>
            <a:off x="255587" y="4797425"/>
            <a:ext cx="72900" cy="228600"/>
          </a:xfrm>
          <a:prstGeom prst="rect">
            <a:avLst/>
          </a:prstGeom>
          <a:solidFill>
            <a:srgbClr val="FEB8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82353d521b_0_1272"/>
          <p:cNvSpPr txBox="1"/>
          <p:nvPr/>
        </p:nvSpPr>
        <p:spPr>
          <a:xfrm>
            <a:off x="255587" y="4637087"/>
            <a:ext cx="72900" cy="13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82353d521b_0_1272"/>
          <p:cNvSpPr txBox="1"/>
          <p:nvPr/>
        </p:nvSpPr>
        <p:spPr>
          <a:xfrm>
            <a:off x="255587" y="4541837"/>
            <a:ext cx="72900" cy="74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82353d521b_0_1272"/>
          <p:cNvSpPr txBox="1"/>
          <p:nvPr/>
        </p:nvSpPr>
        <p:spPr>
          <a:xfrm>
            <a:off x="309562" y="681037"/>
            <a:ext cx="459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82353d521b_0_1272"/>
          <p:cNvSpPr txBox="1"/>
          <p:nvPr/>
        </p:nvSpPr>
        <p:spPr>
          <a:xfrm>
            <a:off x="268287" y="681037"/>
            <a:ext cx="285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82353d521b_0_1272"/>
          <p:cNvSpPr txBox="1"/>
          <p:nvPr/>
        </p:nvSpPr>
        <p:spPr>
          <a:xfrm>
            <a:off x="249237" y="681037"/>
            <a:ext cx="96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82353d521b_0_1272"/>
          <p:cNvSpPr txBox="1"/>
          <p:nvPr/>
        </p:nvSpPr>
        <p:spPr>
          <a:xfrm>
            <a:off x="222250" y="681037"/>
            <a:ext cx="7800" cy="36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82353d521b_0_1272"/>
          <p:cNvSpPr txBox="1"/>
          <p:nvPr>
            <p:ph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sp>
        <p:nvSpPr>
          <p:cNvPr id="152" name="Google Shape;152;g382353d521b_0_1272"/>
          <p:cNvSpPr txBox="1"/>
          <p:nvPr>
            <p:ph idx="1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9575" lvl="0" marL="457200" marR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algn="l">
              <a:spcBef>
                <a:spcPts val="440"/>
              </a:spcBef>
              <a:spcAft>
                <a:spcPts val="0"/>
              </a:spcAft>
              <a:buClr>
                <a:srgbClr val="FEB80A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rgbClr val="FEB80A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3" name="Google Shape;153;g382353d521b_0_1272"/>
          <p:cNvSpPr txBox="1"/>
          <p:nvPr>
            <p:ph idx="12" type="sldNum"/>
          </p:nvPr>
        </p:nvSpPr>
        <p:spPr>
          <a:xfrm>
            <a:off x="231775" y="6423025"/>
            <a:ext cx="8686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orbel"/>
              <a:buNone/>
              <a:defRPr b="0" i="0" sz="1200" u="non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2353d521b_0_1402"/>
          <p:cNvSpPr txBox="1"/>
          <p:nvPr>
            <p:ph idx="4294967295" type="title"/>
          </p:nvPr>
        </p:nvSpPr>
        <p:spPr>
          <a:xfrm>
            <a:off x="844500" y="271891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User-Centered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2353d521b_0_1039"/>
          <p:cNvSpPr txBox="1"/>
          <p:nvPr>
            <p:ph idx="4294967295" type="title"/>
          </p:nvPr>
        </p:nvSpPr>
        <p:spPr>
          <a:xfrm>
            <a:off x="914400" y="5127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REVIEW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Activity: “Design for Betty” – From Persona to Prototype</a:t>
            </a:r>
            <a:endParaRPr/>
          </a:p>
        </p:txBody>
      </p:sp>
      <p:sp>
        <p:nvSpPr>
          <p:cNvPr id="171" name="Google Shape;171;g382353d521b_0_1039"/>
          <p:cNvSpPr txBox="1"/>
          <p:nvPr>
            <p:ph idx="4294967295" type="body"/>
          </p:nvPr>
        </p:nvSpPr>
        <p:spPr>
          <a:xfrm>
            <a:off x="914400" y="2771825"/>
            <a:ext cx="7772400" cy="3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lang="en-US"/>
              <a:t>Goal</a:t>
            </a:r>
            <a:endParaRPr/>
          </a:p>
          <a:p>
            <a:pPr indent="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/>
              <a:t>You will practice user-centered design by creating solutions for a persona, then conduct a usability test with peers.</a:t>
            </a:r>
            <a:endParaRPr/>
          </a:p>
        </p:txBody>
      </p:sp>
      <p:sp>
        <p:nvSpPr>
          <p:cNvPr id="172" name="Google Shape;172;g382353d521b_0_1039"/>
          <p:cNvSpPr txBox="1"/>
          <p:nvPr/>
        </p:nvSpPr>
        <p:spPr>
          <a:xfrm>
            <a:off x="3008075" y="3231025"/>
            <a:ext cx="574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2353d521b_0_1431"/>
          <p:cNvSpPr txBox="1"/>
          <p:nvPr>
            <p:ph idx="4294967295" type="title"/>
          </p:nvPr>
        </p:nvSpPr>
        <p:spPr>
          <a:xfrm>
            <a:off x="914400" y="5127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Step 1: Warm-Up</a:t>
            </a:r>
            <a:endParaRPr/>
          </a:p>
        </p:txBody>
      </p:sp>
      <p:sp>
        <p:nvSpPr>
          <p:cNvPr id="179" name="Google Shape;179;g382353d521b_0_1431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9575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Present the persona “Betty” (from your slides: Warehouse Manager, limited computer training, slight right-hand restriction, dislikes late work, feels threatened by new systems).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“What challenges might Betty face with a new computer system?”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Capture ideas on the board (e.g., accessibility, training, work-life balance).</a:t>
            </a:r>
            <a:endParaRPr/>
          </a:p>
        </p:txBody>
      </p:sp>
      <p:sp>
        <p:nvSpPr>
          <p:cNvPr id="180" name="Google Shape;180;g382353d521b_0_1431"/>
          <p:cNvSpPr txBox="1"/>
          <p:nvPr/>
        </p:nvSpPr>
        <p:spPr>
          <a:xfrm>
            <a:off x="3008075" y="3231025"/>
            <a:ext cx="574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2353d521b_0_1438"/>
          <p:cNvSpPr txBox="1"/>
          <p:nvPr>
            <p:ph idx="4294967295" type="title"/>
          </p:nvPr>
        </p:nvSpPr>
        <p:spPr>
          <a:xfrm>
            <a:off x="914400" y="5127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Step 2: Quick Design Challenge </a:t>
            </a:r>
            <a:endParaRPr/>
          </a:p>
        </p:txBody>
      </p:sp>
      <p:sp>
        <p:nvSpPr>
          <p:cNvPr id="187" name="Google Shape;187;g382353d521b_0_1438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9575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Each group designs a low-fidelity prototype (sketches on paper) of a simple system feature Betty would use, e.g.: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Inventory lookup screen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Staff task dashboard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Delivery log entry form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Think like Betty (limited training, needs clarity, doesn’t like complex navigation).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2353d521b_0_1445"/>
          <p:cNvSpPr txBox="1"/>
          <p:nvPr>
            <p:ph idx="4294967295" type="title"/>
          </p:nvPr>
        </p:nvSpPr>
        <p:spPr>
          <a:xfrm>
            <a:off x="914400" y="5127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Step 3: Peer Role-Play Usability Test </a:t>
            </a:r>
            <a:endParaRPr/>
          </a:p>
        </p:txBody>
      </p:sp>
      <p:sp>
        <p:nvSpPr>
          <p:cNvPr id="194" name="Google Shape;194;g382353d521b_0_1445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9575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Groups swap prototypes.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One student role-plays Betty using the prototype.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The other group acts as observers.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The “Betty” student must try to complete a task (e.g., “Check how many boxes of screws are in stock”).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Observers record: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Where did Betty hesitate?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Did she understand what to do?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Was the interface accessible for her (considering her physical limitation)?</a:t>
            </a:r>
            <a:endParaRPr/>
          </a:p>
        </p:txBody>
      </p:sp>
      <p:sp>
        <p:nvSpPr>
          <p:cNvPr id="195" name="Google Shape;195;g382353d521b_0_1445"/>
          <p:cNvSpPr txBox="1"/>
          <p:nvPr/>
        </p:nvSpPr>
        <p:spPr>
          <a:xfrm>
            <a:off x="3008075" y="3231025"/>
            <a:ext cx="574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2353d521b_0_1452"/>
          <p:cNvSpPr txBox="1"/>
          <p:nvPr>
            <p:ph idx="4294967295" type="title"/>
          </p:nvPr>
        </p:nvSpPr>
        <p:spPr>
          <a:xfrm>
            <a:off x="914400" y="5127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lang="en-US"/>
              <a:t>Step 4: Debrief &amp; Reflection</a:t>
            </a:r>
            <a:endParaRPr/>
          </a:p>
        </p:txBody>
      </p:sp>
      <p:sp>
        <p:nvSpPr>
          <p:cNvPr id="202" name="Google Shape;202;g382353d521b_0_1452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9575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Groups report what problems Betty faced and what design changes they’d make.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Discuss how usability testing revealed issues that weren’t obvious during design. </a:t>
            </a:r>
            <a:endParaRPr/>
          </a:p>
          <a:p>
            <a:pPr indent="-4095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50"/>
              <a:buChar char="▪"/>
            </a:pPr>
            <a:r>
              <a:rPr lang="en-US"/>
              <a:t>Wrap up with the lesson: </a:t>
            </a:r>
            <a:endParaRPr/>
          </a:p>
          <a:p>
            <a:pPr indent="-37719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40"/>
              <a:buChar char="🢭"/>
            </a:pPr>
            <a:r>
              <a:rPr lang="en-US"/>
              <a:t>Designing for users means stepping into their shoes, testing with them, and iterating.</a:t>
            </a:r>
            <a:endParaRPr/>
          </a:p>
        </p:txBody>
      </p:sp>
      <p:sp>
        <p:nvSpPr>
          <p:cNvPr id="203" name="Google Shape;203;g382353d521b_0_1452"/>
          <p:cNvSpPr txBox="1"/>
          <p:nvPr/>
        </p:nvSpPr>
        <p:spPr>
          <a:xfrm>
            <a:off x="3008075" y="3231025"/>
            <a:ext cx="574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lbert-5-11-02" id="208" name="Google Shape;208;g382353d521b_0_10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14400"/>
            <a:ext cx="7467600" cy="26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2353d521b_0_1420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What is User-Centered Design?</a:t>
            </a:r>
            <a:endParaRPr/>
          </a:p>
        </p:txBody>
      </p:sp>
      <p:sp>
        <p:nvSpPr>
          <p:cNvPr id="215" name="Google Shape;215;g382353d521b_0_1420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 approach to UI development and system development.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Focuses on understanding: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Users, and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Their goals and tasks, and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environment (physical, organizational, social)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Pay attention to these throughout development</a:t>
            </a:r>
            <a:endParaRPr/>
          </a:p>
        </p:txBody>
      </p:sp>
      <p:sp>
        <p:nvSpPr>
          <p:cNvPr id="216" name="Google Shape;216;g382353d521b_0_1420"/>
          <p:cNvSpPr txBox="1"/>
          <p:nvPr/>
        </p:nvSpPr>
        <p:spPr>
          <a:xfrm>
            <a:off x="3008075" y="3231025"/>
            <a:ext cx="574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2353d521b_0_1045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ISO on User-centered Design</a:t>
            </a:r>
            <a:endParaRPr/>
          </a:p>
        </p:txBody>
      </p:sp>
      <p:sp>
        <p:nvSpPr>
          <p:cNvPr id="223" name="Google Shape;223;g382353d521b_0_1045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ISO 13407 describes human-centered design processes for interactive systems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Principles of human-centered design: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Active involvement of users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Appropriate allocation of function between  user and system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Iteration of design solutions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Multidisciplinary design teams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2353d521b_0_1051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ISO on User-centered Design (2)</a:t>
            </a:r>
            <a:endParaRPr/>
          </a:p>
        </p:txBody>
      </p:sp>
      <p:sp>
        <p:nvSpPr>
          <p:cNvPr id="230" name="Google Shape;230;g382353d521b_0_1051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</a:pPr>
            <a:r>
              <a:rPr b="0" i="0" lang="en-US" sz="3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Essential activities in human-centered design: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Understand and specify the context of use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Specify the user and organizational requirements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Produce design solutions (prototypes)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</a:pPr>
            <a:r>
              <a:rPr b="0" i="0" lang="en-US" sz="26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Evaluate designs with users against requirements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2353d521b_0_1057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</a:pPr>
            <a:r>
              <a:rPr b="0" i="0" lang="en-US" sz="36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What is a user-centered approach?</a:t>
            </a:r>
            <a:endParaRPr/>
          </a:p>
        </p:txBody>
      </p:sp>
      <p:sp>
        <p:nvSpPr>
          <p:cNvPr id="236" name="Google Shape;236;g382353d521b_0_1057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0" i="0" lang="en-US" sz="2400" u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User-centered approach is based on:</a:t>
            </a:r>
            <a:endParaRPr/>
          </a:p>
          <a:p>
            <a:pPr indent="-285750" lvl="1" marL="7397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Early focus on users and tasks: directly studying cognitive, behavioral, anthropomorphic &amp; attitudinal characteristics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/>
          </a:p>
          <a:p>
            <a:pPr indent="-285750" lvl="1" marL="7397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397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Empirical measurement:</a:t>
            </a:r>
            <a:r>
              <a:rPr b="0" i="1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users’ reactions and performance to scenarios, manuals, simulations &amp; prototypes are observed, recorded and analysed</a:t>
            </a:r>
            <a:endParaRPr/>
          </a:p>
          <a:p>
            <a:pPr indent="-171450" lvl="1" marL="7397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39775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Iterative design: when problems are found in user testing, fix them and carry out more tests</a:t>
            </a:r>
            <a:endParaRPr/>
          </a:p>
          <a:p>
            <a:pPr indent="-222250" lvl="0" marL="411162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2353d521b_0_1062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Four basic activities</a:t>
            </a:r>
            <a:endParaRPr/>
          </a:p>
        </p:txBody>
      </p:sp>
      <p:sp>
        <p:nvSpPr>
          <p:cNvPr id="242" name="Google Shape;242;g382353d521b_0_1062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There are four basic activities in Interaction Design: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1. Identifying needs and establishing requirements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2. Developing alternative designs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3. Building interactive versions of the designs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4. Evaluating designs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2353d521b_0_1078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Some practical issues</a:t>
            </a:r>
            <a:endParaRPr/>
          </a:p>
        </p:txBody>
      </p:sp>
      <p:sp>
        <p:nvSpPr>
          <p:cNvPr id="248" name="Google Shape;248;g382353d521b_0_1078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60"/>
              <a:buFont typeface="Noto Sans Symbols"/>
              <a:buChar char="▪"/>
            </a:pPr>
            <a:r>
              <a:rPr b="0" i="0" lang="en-US" sz="2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Who are the users?</a:t>
            </a:r>
            <a:endParaRPr/>
          </a:p>
          <a:p>
            <a:pPr indent="-17399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6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660"/>
              <a:buFont typeface="Noto Sans Symbols"/>
              <a:buChar char="▪"/>
            </a:pPr>
            <a:r>
              <a:rPr b="0" i="0" lang="en-US" sz="2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What are ‘needs’?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73990" lvl="0" marL="411162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2353d521b_0_1088"/>
          <p:cNvSpPr txBox="1"/>
          <p:nvPr>
            <p:ph idx="4294967295" type="title"/>
          </p:nvPr>
        </p:nvSpPr>
        <p:spPr>
          <a:xfrm>
            <a:off x="468312" y="609600"/>
            <a:ext cx="798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</a:pPr>
            <a:r>
              <a:rPr b="0" i="0" lang="en-US" sz="36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Who are the users/stakeholders?</a:t>
            </a:r>
            <a:endParaRPr/>
          </a:p>
        </p:txBody>
      </p:sp>
      <p:sp>
        <p:nvSpPr>
          <p:cNvPr id="254" name="Google Shape;254;g382353d521b_0_1088"/>
          <p:cNvSpPr txBox="1"/>
          <p:nvPr>
            <p:ph idx="4294967295" type="body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Not as obvious as you think: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those who interact directly with the product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those who manage direct users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those who receive output from the product 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those who make the purchasing decision 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those who use competitor’s products</a:t>
            </a:r>
            <a:endParaRPr/>
          </a:p>
          <a:p>
            <a:pPr indent="-1714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Three categories of user (Eason, 1987):  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000" u="none">
                <a:solidFill>
                  <a:srgbClr val="1D6E76"/>
                </a:solidFill>
                <a:latin typeface="Corbel"/>
                <a:ea typeface="Corbel"/>
                <a:cs typeface="Corbel"/>
                <a:sym typeface="Corbel"/>
              </a:rPr>
              <a:t>primary</a:t>
            </a: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: frequent hands-on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000" u="none">
                <a:solidFill>
                  <a:srgbClr val="1D6E76"/>
                </a:solidFill>
                <a:latin typeface="Corbel"/>
                <a:ea typeface="Corbel"/>
                <a:cs typeface="Corbel"/>
                <a:sym typeface="Corbel"/>
              </a:rPr>
              <a:t>secondary</a:t>
            </a: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: occasional or via someone else</a:t>
            </a:r>
            <a:endParaRPr/>
          </a:p>
          <a:p>
            <a:pPr indent="-285750" lvl="1" marL="7397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000" u="none">
                <a:solidFill>
                  <a:srgbClr val="1D6E76"/>
                </a:solidFill>
                <a:latin typeface="Corbel"/>
                <a:ea typeface="Corbel"/>
                <a:cs typeface="Corbel"/>
                <a:sym typeface="Corbel"/>
              </a:rPr>
              <a:t>tertiary</a:t>
            </a: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: affected by its introduction, or will influence its purchase</a:t>
            </a:r>
            <a:endParaRPr/>
          </a:p>
          <a:p>
            <a:pPr indent="-222250" lvl="0" marL="411162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2353d521b_0_1093"/>
          <p:cNvSpPr txBox="1"/>
          <p:nvPr/>
        </p:nvSpPr>
        <p:spPr>
          <a:xfrm>
            <a:off x="762000" y="6248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82353d521b_0_1093"/>
          <p:cNvSpPr txBox="1"/>
          <p:nvPr/>
        </p:nvSpPr>
        <p:spPr>
          <a:xfrm>
            <a:off x="34290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82353d521b_0_1093"/>
          <p:cNvSpPr txBox="1"/>
          <p:nvPr/>
        </p:nvSpPr>
        <p:spPr>
          <a:xfrm>
            <a:off x="762000" y="6248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82353d521b_0_1093"/>
          <p:cNvSpPr txBox="1"/>
          <p:nvPr/>
        </p:nvSpPr>
        <p:spPr>
          <a:xfrm>
            <a:off x="34290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82353d521b_0_1093"/>
          <p:cNvSpPr txBox="1"/>
          <p:nvPr/>
        </p:nvSpPr>
        <p:spPr>
          <a:xfrm>
            <a:off x="465137" y="404812"/>
            <a:ext cx="86790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What are the users’ capabilities? </a:t>
            </a:r>
            <a:endParaRPr/>
          </a:p>
        </p:txBody>
      </p:sp>
      <p:sp>
        <p:nvSpPr>
          <p:cNvPr id="264" name="Google Shape;264;g382353d521b_0_1093"/>
          <p:cNvSpPr txBox="1"/>
          <p:nvPr/>
        </p:nvSpPr>
        <p:spPr>
          <a:xfrm>
            <a:off x="990600" y="1066800"/>
            <a:ext cx="7543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5" name="Google Shape;265;g382353d521b_0_1093"/>
          <p:cNvSpPr txBox="1"/>
          <p:nvPr/>
        </p:nvSpPr>
        <p:spPr>
          <a:xfrm>
            <a:off x="395287" y="1412875"/>
            <a:ext cx="853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Individual differences: 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size of hands may affect the size and positioning of input buttons 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motor abilities may affect the suitability of certain input and output devices 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height if designing a physical kiosk 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strength - a child’s toy requires little strength to operate, but greater strength to change batteries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disabilities (e.g. sight, hearing, dexterity)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—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abilities also vary according to context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lbert_flaws.gif" id="270" name="Google Shape;270;g382353d521b_0_1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690562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82353d521b_0_1103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Users’ needs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2353d521b_0_1109"/>
          <p:cNvSpPr txBox="1"/>
          <p:nvPr/>
        </p:nvSpPr>
        <p:spPr>
          <a:xfrm>
            <a:off x="742950" y="304800"/>
            <a:ext cx="8420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400"/>
              <a:buFont typeface="Verdana"/>
              <a:buNone/>
            </a:pPr>
            <a:r>
              <a:rPr b="0" i="0" lang="en-US" sz="44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What are ‘needs’?</a:t>
            </a:r>
            <a:endParaRPr/>
          </a:p>
        </p:txBody>
      </p:sp>
      <p:sp>
        <p:nvSpPr>
          <p:cNvPr id="277" name="Google Shape;277;g382353d521b_0_1109"/>
          <p:cNvSpPr txBox="1"/>
          <p:nvPr/>
        </p:nvSpPr>
        <p:spPr>
          <a:xfrm>
            <a:off x="395287" y="1484312"/>
            <a:ext cx="8420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Users rarely know what is possible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Users can’t  tell you what they ‘need’ to help them achieve their goals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Instead, look at existing tasks: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their context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information do they require?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who collaborates to achieve the task?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why is the task achieved the way it is?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Envisioned tasks: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 be rooted in existing behaviour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 be described as future scenarios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2353d521b_0_1114"/>
          <p:cNvSpPr txBox="1"/>
          <p:nvPr>
            <p:ph idx="4294967295"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Brief overview of common methods to gather user data</a:t>
            </a:r>
            <a:endParaRPr/>
          </a:p>
        </p:txBody>
      </p:sp>
      <p:sp>
        <p:nvSpPr>
          <p:cNvPr id="283" name="Google Shape;283;g382353d521b_0_1114"/>
          <p:cNvSpPr txBox="1"/>
          <p:nvPr>
            <p:ph idx="4294967295" type="body"/>
          </p:nvPr>
        </p:nvSpPr>
        <p:spPr>
          <a:xfrm>
            <a:off x="-228600" y="1447800"/>
            <a:ext cx="9372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1325" lvl="2" marL="995362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∙"/>
            </a:pPr>
            <a:r>
              <a:rPr b="0" i="0" lang="en-US" sz="32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Interviews</a:t>
            </a:r>
            <a:endParaRPr/>
          </a:p>
          <a:p>
            <a:pPr indent="-441325" lvl="2" marL="995362" rtl="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∙"/>
            </a:pPr>
            <a:r>
              <a:rPr b="0" i="0" lang="en-US" sz="32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Questionnaires</a:t>
            </a:r>
            <a:endParaRPr/>
          </a:p>
          <a:p>
            <a:pPr indent="-441325" lvl="2" marL="995362" rtl="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∙"/>
            </a:pPr>
            <a:r>
              <a:rPr b="0" i="0" lang="en-US" sz="32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Observation</a:t>
            </a:r>
            <a:endParaRPr/>
          </a:p>
          <a:p>
            <a:pPr indent="-441325" lvl="2" marL="995362" rtl="0" algn="l">
              <a:lnSpc>
                <a:spcPct val="13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∙"/>
            </a:pPr>
            <a:r>
              <a:rPr b="0" i="0" lang="en-US" sz="32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Choosing and combining techniques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2353d521b_0_1119"/>
          <p:cNvSpPr txBox="1"/>
          <p:nvPr/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Interviews</a:t>
            </a:r>
            <a:endParaRPr/>
          </a:p>
        </p:txBody>
      </p:sp>
      <p:sp>
        <p:nvSpPr>
          <p:cNvPr id="289" name="Google Shape;289;g382353d521b_0_1119"/>
          <p:cNvSpPr txBox="1"/>
          <p:nvPr/>
        </p:nvSpPr>
        <p:spPr>
          <a:xfrm>
            <a:off x="755650" y="1412875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Unstructured - are not directed by a script. Rich but not replicable. 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Structured - are tightly scripted, a questionnaire delivered verbally. Replicable but may lack richness.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Semi-structured - guided by a script but interesting issues can be explored in more depth. Can provide a good balance between richness and replicability.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2353d521b_0_1124"/>
          <p:cNvSpPr txBox="1"/>
          <p:nvPr/>
        </p:nvSpPr>
        <p:spPr>
          <a:xfrm>
            <a:off x="468312" y="333375"/>
            <a:ext cx="798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Interview questions</a:t>
            </a:r>
            <a:endParaRPr/>
          </a:p>
        </p:txBody>
      </p:sp>
      <p:sp>
        <p:nvSpPr>
          <p:cNvPr id="295" name="Google Shape;295;g382353d521b_0_1124"/>
          <p:cNvSpPr txBox="1"/>
          <p:nvPr/>
        </p:nvSpPr>
        <p:spPr>
          <a:xfrm>
            <a:off x="684212" y="1196975"/>
            <a:ext cx="8001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Two types: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‘closed questions’ have a predetermined answer format, e.g., ‘yes’ or ‘no’</a:t>
            </a:r>
            <a:endParaRPr b="0" i="0" sz="20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‘open questions’ do not have a predetermined format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Closed questions are easier to analyze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∙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Avoid: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Long questions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Compound sentences - split them into two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Jargon and language that the interviewee may not understand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Leading questions that make assumptions e.g., why do you like …?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−"/>
            </a:pPr>
            <a:r>
              <a:rPr b="0" i="0" lang="en-US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Unconscious biases e.g., gender stereotypes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2353d521b_0_1129"/>
          <p:cNvSpPr txBox="1"/>
          <p:nvPr>
            <p:ph idx="4294967295" type="title"/>
          </p:nvPr>
        </p:nvSpPr>
        <p:spPr>
          <a:xfrm>
            <a:off x="914400" y="51276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</a:pPr>
            <a:r>
              <a:rPr b="0" i="0" lang="en-US" sz="36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Enriching the interview process</a:t>
            </a:r>
            <a:endParaRPr/>
          </a:p>
        </p:txBody>
      </p:sp>
      <p:sp>
        <p:nvSpPr>
          <p:cNvPr id="301" name="Google Shape;301;g382353d521b_0_1129"/>
          <p:cNvSpPr txBox="1"/>
          <p:nvPr/>
        </p:nvSpPr>
        <p:spPr>
          <a:xfrm>
            <a:off x="539750" y="1981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Props - devices for prompting interviewee, e.g., a prototype, scenario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2353d521b_0_1135"/>
          <p:cNvSpPr txBox="1"/>
          <p:nvPr/>
        </p:nvSpPr>
        <p:spPr>
          <a:xfrm>
            <a:off x="703262" y="6248400"/>
            <a:ext cx="18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82353d521b_0_1135"/>
          <p:cNvSpPr txBox="1"/>
          <p:nvPr/>
        </p:nvSpPr>
        <p:spPr>
          <a:xfrm>
            <a:off x="3165475" y="6248400"/>
            <a:ext cx="281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82353d521b_0_1135"/>
          <p:cNvSpPr txBox="1"/>
          <p:nvPr/>
        </p:nvSpPr>
        <p:spPr>
          <a:xfrm>
            <a:off x="703262" y="6248400"/>
            <a:ext cx="189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82353d521b_0_1135"/>
          <p:cNvSpPr txBox="1"/>
          <p:nvPr/>
        </p:nvSpPr>
        <p:spPr>
          <a:xfrm>
            <a:off x="3165475" y="6248400"/>
            <a:ext cx="281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82353d521b_0_1135"/>
          <p:cNvSpPr txBox="1"/>
          <p:nvPr/>
        </p:nvSpPr>
        <p:spPr>
          <a:xfrm>
            <a:off x="1874837" y="528637"/>
            <a:ext cx="54768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400"/>
              <a:buFont typeface="Verdana"/>
              <a:buNone/>
            </a:pPr>
            <a:r>
              <a:rPr b="0" i="0" lang="en-US" sz="44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Contextual Inquiry</a:t>
            </a:r>
            <a:endParaRPr/>
          </a:p>
        </p:txBody>
      </p:sp>
      <p:sp>
        <p:nvSpPr>
          <p:cNvPr id="311" name="Google Shape;311;g382353d521b_0_1135"/>
          <p:cNvSpPr txBox="1"/>
          <p:nvPr/>
        </p:nvSpPr>
        <p:spPr>
          <a:xfrm>
            <a:off x="914400" y="1066800"/>
            <a:ext cx="69627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g382353d521b_0_1135"/>
          <p:cNvSpPr txBox="1"/>
          <p:nvPr/>
        </p:nvSpPr>
        <p:spPr>
          <a:xfrm>
            <a:off x="384175" y="1484312"/>
            <a:ext cx="85107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71462" lvl="0" marL="3587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 approach to ethnographic study. Often conducted as an apprenticeship where user is expert, designer is apprentice</a:t>
            </a:r>
            <a:endParaRPr/>
          </a:p>
          <a:p>
            <a:pPr indent="-271462" lvl="0" marL="3587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form of interview, but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at users’ workplace (workstation)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2 to 3 hours long</a:t>
            </a:r>
            <a:endParaRPr/>
          </a:p>
          <a:p>
            <a:pPr indent="-271462" lvl="0" marL="35877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Four main principles: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Context: see workplace &amp; what happens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Partnership: user and developer collaborate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Interpretation: observations interpreted by user and developer together</a:t>
            </a:r>
            <a:endParaRPr/>
          </a:p>
          <a:p>
            <a:pPr indent="-114300" lvl="1" marL="630237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—"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Focus: project focus to understand what to look for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2353d521b_0_1145"/>
          <p:cNvSpPr txBox="1"/>
          <p:nvPr/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Questionnaires</a:t>
            </a:r>
            <a:endParaRPr/>
          </a:p>
        </p:txBody>
      </p:sp>
      <p:sp>
        <p:nvSpPr>
          <p:cNvPr id="318" name="Google Shape;318;g382353d521b_0_1145"/>
          <p:cNvSpPr txBox="1"/>
          <p:nvPr/>
        </p:nvSpPr>
        <p:spPr>
          <a:xfrm>
            <a:off x="539750" y="1447800"/>
            <a:ext cx="81534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Questions can be closed or open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Closed questions are easier to analyze, and may be done by computer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 be administered to large populations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Paper, email and the web used for dissemination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Sampling can be a problem when the size of a population is unknown as is common online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2353d521b_0_1150"/>
          <p:cNvSpPr txBox="1"/>
          <p:nvPr/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Questionnaire design</a:t>
            </a:r>
            <a:endParaRPr/>
          </a:p>
        </p:txBody>
      </p:sp>
      <p:sp>
        <p:nvSpPr>
          <p:cNvPr id="324" name="Google Shape;324;g382353d521b_0_1150"/>
          <p:cNvSpPr txBox="1"/>
          <p:nvPr/>
        </p:nvSpPr>
        <p:spPr>
          <a:xfrm>
            <a:off x="539750" y="1447800"/>
            <a:ext cx="81534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impact of a question can be influenced by question order.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 you need different versions of the questionnaire for different populations?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Provide clear instructions on how to complete the questionnaire.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Strike a balance between using white space and keeping the questionnaire compact.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Decide on whether phrases will all be positive, all negative or mixed.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2353d521b_0_115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Advantages of online questionnaires</a:t>
            </a:r>
            <a:endParaRPr/>
          </a:p>
        </p:txBody>
      </p:sp>
      <p:sp>
        <p:nvSpPr>
          <p:cNvPr id="330" name="Google Shape;330;g382353d521b_0_1155"/>
          <p:cNvSpPr txBox="1"/>
          <p:nvPr>
            <p:ph idx="1" type="body"/>
          </p:nvPr>
        </p:nvSpPr>
        <p:spPr>
          <a:xfrm>
            <a:off x="685800" y="1981200"/>
            <a:ext cx="8042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Responses are usually received quickly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No copying and postage costs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 can be collected in database for analysis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Time required for data analysis is reduced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Errors can be corrected easily</a:t>
            </a:r>
            <a:endParaRPr/>
          </a:p>
          <a:p>
            <a:pPr indent="-198120" lvl="0" marL="411162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2353d521b_0_1161"/>
          <p:cNvSpPr txBox="1"/>
          <p:nvPr>
            <p:ph idx="4294967295" type="title"/>
          </p:nvPr>
        </p:nvSpPr>
        <p:spPr>
          <a:xfrm>
            <a:off x="323850" y="47625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Problems with online questionnaires</a:t>
            </a:r>
            <a:endParaRPr/>
          </a:p>
        </p:txBody>
      </p:sp>
      <p:sp>
        <p:nvSpPr>
          <p:cNvPr id="336" name="Google Shape;336;g382353d521b_0_1161"/>
          <p:cNvSpPr txBox="1"/>
          <p:nvPr>
            <p:ph idx="4294967295" type="body"/>
          </p:nvPr>
        </p:nvSpPr>
        <p:spPr>
          <a:xfrm>
            <a:off x="539750" y="25654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Sampling is problematic if population size is unknown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Preventing individuals from responding more than once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Individuals have also been known to change questions in email questionnaires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2353d521b_0_116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Observation</a:t>
            </a:r>
            <a:endParaRPr/>
          </a:p>
        </p:txBody>
      </p:sp>
      <p:sp>
        <p:nvSpPr>
          <p:cNvPr id="342" name="Google Shape;342;g382353d521b_0_1166"/>
          <p:cNvSpPr txBox="1"/>
          <p:nvPr>
            <p:ph idx="1" type="body"/>
          </p:nvPr>
        </p:nvSpPr>
        <p:spPr>
          <a:xfrm>
            <a:off x="685800" y="199118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Direct observation in the field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Structuring frameworks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Degree of participation (insider or outsider)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Ethnography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Direct observation in controlled environments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Indirect observation: tracking users’ activities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Diaries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🢭"/>
            </a:pPr>
            <a:r>
              <a:rPr b="0" i="0" lang="en-US" sz="20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Interaction logging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2353d521b_0_1172"/>
          <p:cNvSpPr txBox="1"/>
          <p:nvPr>
            <p:ph idx="4294967295" type="title"/>
          </p:nvPr>
        </p:nvSpPr>
        <p:spPr>
          <a:xfrm>
            <a:off x="7620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Structuring frameworks to guide observation</a:t>
            </a:r>
            <a:endParaRPr/>
          </a:p>
        </p:txBody>
      </p:sp>
      <p:sp>
        <p:nvSpPr>
          <p:cNvPr id="348" name="Google Shape;348;g382353d521b_0_1172"/>
          <p:cNvSpPr txBox="1"/>
          <p:nvPr>
            <p:ph idx="4294967295" type="body"/>
          </p:nvPr>
        </p:nvSpPr>
        <p:spPr>
          <a:xfrm>
            <a:off x="685800" y="1600200"/>
            <a:ext cx="8153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person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. Who?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place.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Where?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thing.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What?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The Goetz and LeCompte (1984) framework: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Who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is present?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What is their role?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What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is happening?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When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does the activity occur?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Where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is it happening?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Why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is it happening? </a:t>
            </a:r>
            <a:b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- </a:t>
            </a:r>
            <a:r>
              <a:rPr b="0" i="1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How</a:t>
            </a: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is the activity organized?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2353d521b_0_1177"/>
          <p:cNvSpPr txBox="1"/>
          <p:nvPr>
            <p:ph idx="4294967295" type="title"/>
          </p:nvPr>
        </p:nvSpPr>
        <p:spPr>
          <a:xfrm>
            <a:off x="609600" y="76200"/>
            <a:ext cx="7848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Ethnography (1)</a:t>
            </a:r>
            <a:endParaRPr/>
          </a:p>
        </p:txBody>
      </p:sp>
      <p:sp>
        <p:nvSpPr>
          <p:cNvPr id="354" name="Google Shape;354;g382353d521b_0_1177"/>
          <p:cNvSpPr txBox="1"/>
          <p:nvPr>
            <p:ph idx="4294967295" type="body"/>
          </p:nvPr>
        </p:nvSpPr>
        <p:spPr>
          <a:xfrm>
            <a:off x="611187" y="1196975"/>
            <a:ext cx="8229600" cy="3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Ethnography is a philosophy with a set of techniques that include participant observation and interviews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Debate about differences between participant observation and ethnography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Ethnographers immerse themselves in the culture that they study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 researcher’s degree of participation can vary along a scale from ‘outside’ to ‘inside’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Analyzing video and data logs can be time-consuming</a:t>
            </a:r>
            <a:endParaRPr/>
          </a:p>
          <a:p>
            <a:pPr indent="-342900" lvl="0" marL="41116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∙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Collections of comments, incidents, and artifacts are made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2353d521b_0_1182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4000"/>
              <a:buFont typeface="Consolas"/>
              <a:buNone/>
            </a:pPr>
            <a:r>
              <a:rPr b="0" i="0" lang="en-US" sz="40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Ethnography (2)</a:t>
            </a:r>
            <a:endParaRPr/>
          </a:p>
        </p:txBody>
      </p:sp>
      <p:sp>
        <p:nvSpPr>
          <p:cNvPr id="360" name="Google Shape;360;g382353d521b_0_1182"/>
          <p:cNvSpPr txBox="1"/>
          <p:nvPr>
            <p:ph idx="1" type="body"/>
          </p:nvPr>
        </p:nvSpPr>
        <p:spPr>
          <a:xfrm>
            <a:off x="685800" y="1981200"/>
            <a:ext cx="7553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Co-operation of people being observed is required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Informants are useful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 analysis is continuous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Interpretivist technique</a:t>
            </a:r>
            <a:endParaRPr b="0" i="0" sz="24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Questions get refined as understanding grows</a:t>
            </a:r>
            <a:endParaRPr/>
          </a:p>
          <a:p>
            <a:pPr indent="-342900" lvl="0" marL="41116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280"/>
              <a:buFont typeface="Noto Sans Symbols"/>
              <a:buChar char="▪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Reports usually contain examples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2353d521b_0_118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</a:pPr>
            <a:r>
              <a:rPr b="0" i="0" lang="en-US" sz="36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Direct observation in a controlled setting</a:t>
            </a:r>
            <a:endParaRPr/>
          </a:p>
        </p:txBody>
      </p:sp>
      <p:sp>
        <p:nvSpPr>
          <p:cNvPr id="366" name="Google Shape;366;g382353d521b_0_1188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60"/>
              <a:buFont typeface="Noto Sans Symbols"/>
              <a:buChar char="▪"/>
            </a:pPr>
            <a:r>
              <a:rPr b="0" i="0" lang="en-US" sz="2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Think-aloud technique</a:t>
            </a:r>
            <a:endParaRPr/>
          </a:p>
          <a:p>
            <a:pPr indent="-173990" lvl="0" marL="411162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7" name="Google Shape;367;g382353d521b_0_1188"/>
          <p:cNvSpPr txBox="1"/>
          <p:nvPr/>
        </p:nvSpPr>
        <p:spPr>
          <a:xfrm>
            <a:off x="250825" y="2636837"/>
            <a:ext cx="85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6E76"/>
              </a:buClr>
              <a:buSzPts val="3600"/>
              <a:buFont typeface="Verdana"/>
              <a:buNone/>
            </a:pPr>
            <a:r>
              <a:rPr b="0" i="0" lang="en-US" sz="3600" u="none">
                <a:solidFill>
                  <a:srgbClr val="1D6E76"/>
                </a:solidFill>
                <a:latin typeface="Verdana"/>
                <a:ea typeface="Verdana"/>
                <a:cs typeface="Verdana"/>
                <a:sym typeface="Verdana"/>
              </a:rPr>
              <a:t>Indirect observation</a:t>
            </a:r>
            <a:endParaRPr/>
          </a:p>
        </p:txBody>
      </p:sp>
      <p:sp>
        <p:nvSpPr>
          <p:cNvPr id="368" name="Google Shape;368;g382353d521b_0_1188"/>
          <p:cNvSpPr txBox="1"/>
          <p:nvPr/>
        </p:nvSpPr>
        <p:spPr>
          <a:xfrm>
            <a:off x="-684212" y="3933825"/>
            <a:ext cx="84582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Diaries</a:t>
            </a:r>
            <a:endParaRPr/>
          </a:p>
          <a:p>
            <a:pPr indent="-342900" lvl="0" marL="342900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Interaction logs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2353d521b_0_119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1EEFF"/>
              </a:buClr>
              <a:buSzPts val="3600"/>
              <a:buFont typeface="Consolas"/>
              <a:buNone/>
            </a:pPr>
            <a:r>
              <a:rPr b="0" i="0" lang="en-US" sz="3600" u="none">
                <a:solidFill>
                  <a:srgbClr val="C1EEFF"/>
                </a:solidFill>
                <a:latin typeface="Consolas"/>
                <a:ea typeface="Consolas"/>
                <a:cs typeface="Consolas"/>
                <a:sym typeface="Consolas"/>
              </a:rPr>
              <a:t>Choosing and combining techniques</a:t>
            </a:r>
            <a:endParaRPr/>
          </a:p>
        </p:txBody>
      </p:sp>
      <p:sp>
        <p:nvSpPr>
          <p:cNvPr id="374" name="Google Shape;374;g382353d521b_0_119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60"/>
              <a:buFont typeface="Noto Sans Symbols"/>
              <a:buChar char="▪"/>
            </a:pPr>
            <a:r>
              <a:rPr b="0" i="0" lang="en-US" sz="28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Depends on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🢭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focus of the study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🢭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participants involved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🢭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nature of the technique</a:t>
            </a:r>
            <a:endParaRPr/>
          </a:p>
          <a:p>
            <a:pPr indent="-285750" lvl="1" marL="7397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🢭"/>
            </a:pPr>
            <a:r>
              <a:rPr b="0" i="0" lang="en-US" sz="2400" u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resources available</a:t>
            </a:r>
            <a:endParaRPr/>
          </a:p>
          <a:p>
            <a:pPr indent="-198120" lvl="0" marL="411162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5" name="Google Shape;375;g382353d521b_0_1196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5_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2002-09-29T18:33:56Z</dcterms:created>
  <dc:creator>Todd Zazelenchuk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